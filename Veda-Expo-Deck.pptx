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Veda is a browser-based AI study companion at veda-net.com — homework help, an AI companion, games, a forum and full study tools, all in one place. Every AI feature runs on the student's own free Gemini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toolkit: ask a question, run a study session, take notes, plan revision, track tasks, practise past papers, log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Social and game layer — companion, journal, forum, leaderboard, nine games — plus the safety net: real distress triggers a guardian alert, but the student is told first and crisis resources are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Creative and personalisation layer: an AI art tool, a private vault, Spotify focus playlists, and five switchable visual themes.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comparison. Quizlet is flashcards, with AI behind Quizlet Plus. ChatGPT answers questions but doesn't manage revision, planning, or safety. Notion organises but doesn't tutor. Photomath solves maths problems only. Veda covers the whole job — one free app, bring-your-own-key, offline, with a real safety net. Check each mark before the expo — these apps change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SDG alignment. 4: free tools that work offline lower the barrier to studying. 3: the companion and safety net. 10: bring-your-own-key keeps it free regardless of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it's built: static single-page app on GitHub Pages, light Firebase backend, bring-your-own-key AI. Scan the code or visit veda-net.com to try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 Id="rId6" Type="http://schemas.openxmlformats.org/officeDocument/2006/relationships/image" Target="../media/image1.png"/><Relationship Id="rId7"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 Id="rId1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 Id="rId11"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 Id="rId9"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 Id="rId8"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 Id="rId9"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ivate/tmp/claude-502/-Users-keshavkarthik-Downloads-digital-expo-/4725727b-8639-429e-86c6-a78454e31f2a/scratchpad/deck/assets/hero.png">    </p:cNvPr>
          <p:cNvPicPr>
            <a:picLocks noChangeAspect="1"/>
          </p:cNvPicPr>
          <p:nvPr/>
        </p:nvPicPr>
        <p:blipFill>
          <a:blip r:embed="rId2"/>
          <a:stretch>
            <a:fillRect/>
          </a:stretch>
        </p:blipFill>
        <p:spPr>
          <a:xfrm>
            <a:off x="7040880" y="914400"/>
            <a:ext cx="5212080" cy="5212080"/>
          </a:xfrm>
          <a:prstGeom prst="rect">
            <a:avLst/>
          </a:prstGeom>
        </p:spPr>
      </p:pic>
      <p:pic>
        <p:nvPicPr>
          <p:cNvPr id="3" name="Image 1" descr="/private/tmp/claude-502/-Users-keshavkarthik-Downloads-digital-expo-/4725727b-8639-429e-86c6-a78454e31f2a/scratchpad/deck/assets/logo.png">    </p:cNvPr>
          <p:cNvPicPr>
            <a:picLocks noChangeAspect="1"/>
          </p:cNvPicPr>
          <p:nvPr/>
        </p:nvPicPr>
        <p:blipFill>
          <a:blip r:embed="rId3"/>
          <a:stretch>
            <a:fillRect/>
          </a:stretch>
        </p:blipFill>
        <p:spPr>
          <a:xfrm>
            <a:off x="566928" y="621792"/>
            <a:ext cx="1188720" cy="1188720"/>
          </a:xfrm>
          <a:prstGeom prst="rect">
            <a:avLst/>
          </a:prstGeom>
        </p:spPr>
      </p:pic>
      <p:sp>
        <p:nvSpPr>
          <p:cNvPr id="4" name="Text 0"/>
          <p:cNvSpPr txBox="1"/>
          <p:nvPr/>
        </p:nvSpPr>
        <p:spPr>
          <a:xfrm>
            <a:off x="539496" y="2148840"/>
            <a:ext cx="7315200" cy="1371600"/>
          </a:xfrm>
          <a:prstGeom prst="rect">
            <a:avLst/>
          </a:prstGeom>
          <a:noFill/>
          <a:ln/>
        </p:spPr>
        <p:txBody>
          <a:bodyPr wrap="square" lIns="0" tIns="0" rIns="0" bIns="0" rtlCol="0" anchor="ctr"/>
          <a:lstStyle/>
          <a:p>
            <a:pPr indent="0" marL="0">
              <a:buNone/>
            </a:pPr>
            <a:r>
              <a:rPr lang="en-US" sz="7000" b="1" spc="1600" kern="0" dirty="0">
                <a:solidFill>
                  <a:srgbClr val="E6F6F4"/>
                </a:solidFill>
                <a:latin typeface="Arial" pitchFamily="34" charset="0"/>
                <a:ea typeface="Arial" pitchFamily="34" charset="-122"/>
                <a:cs typeface="Arial" pitchFamily="34" charset="-120"/>
              </a:rPr>
              <a:t>VEDA</a:t>
            </a:r>
            <a:endParaRPr lang="en-US" sz="7000" dirty="0"/>
          </a:p>
        </p:txBody>
      </p:sp>
      <p:sp>
        <p:nvSpPr>
          <p:cNvPr id="5" name="Text 1"/>
          <p:cNvSpPr txBox="1"/>
          <p:nvPr/>
        </p:nvSpPr>
        <p:spPr>
          <a:xfrm>
            <a:off x="566928" y="3456432"/>
            <a:ext cx="7315200" cy="548640"/>
          </a:xfrm>
          <a:prstGeom prst="rect">
            <a:avLst/>
          </a:prstGeom>
          <a:noFill/>
          <a:ln/>
        </p:spPr>
        <p:txBody>
          <a:bodyPr wrap="square" lIns="0" tIns="0" rIns="0" bIns="0" rtlCol="0" anchor="ctr"/>
          <a:lstStyle/>
          <a:p>
            <a:pPr indent="0" marL="0">
              <a:buNone/>
            </a:pPr>
            <a:r>
              <a:rPr lang="en-US" sz="2200" dirty="0">
                <a:solidFill>
                  <a:srgbClr val="00D4AA"/>
                </a:solidFill>
                <a:latin typeface="Arial" pitchFamily="34" charset="0"/>
                <a:ea typeface="Arial" pitchFamily="34" charset="-122"/>
                <a:cs typeface="Arial" pitchFamily="34" charset="-120"/>
              </a:rPr>
              <a:t>The AI-Powered Study Companion</a:t>
            </a:r>
            <a:endParaRPr lang="en-US" sz="2200" dirty="0"/>
          </a:p>
        </p:txBody>
      </p:sp>
      <p:sp>
        <p:nvSpPr>
          <p:cNvPr id="6" name="Text 2"/>
          <p:cNvSpPr txBox="1"/>
          <p:nvPr/>
        </p:nvSpPr>
        <p:spPr>
          <a:xfrm>
            <a:off x="566928" y="4114800"/>
            <a:ext cx="6035040" cy="822960"/>
          </a:xfrm>
          <a:prstGeom prst="rect">
            <a:avLst/>
          </a:prstGeom>
          <a:noFill/>
          <a:ln/>
        </p:spPr>
        <p:txBody>
          <a:bodyPr wrap="square" lIns="0" tIns="0" rIns="0" bIns="0" rtlCol="0" anchor="t"/>
          <a:lstStyle/>
          <a:p>
            <a:pPr indent="0" marL="0">
              <a:lnSpc>
                <a:spcPts val="1900"/>
              </a:lnSpc>
              <a:buNone/>
            </a:pPr>
            <a:r>
              <a:rPr lang="en-US" sz="1300" dirty="0">
                <a:solidFill>
                  <a:srgbClr val="8FB4B4"/>
                </a:solidFill>
                <a:latin typeface="Arial" pitchFamily="34" charset="0"/>
                <a:ea typeface="Arial" pitchFamily="34" charset="-122"/>
                <a:cs typeface="Arial" pitchFamily="34" charset="-120"/>
              </a:rPr>
              <a:t>Homework help · AI companion · Games · Forum · Study tools — all in one place</a:t>
            </a:r>
            <a:endParaRPr lang="en-US" sz="1300" dirty="0"/>
          </a:p>
        </p:txBody>
      </p:sp>
      <p:sp>
        <p:nvSpPr>
          <p:cNvPr id="7" name="Text 3"/>
          <p:cNvSpPr txBox="1"/>
          <p:nvPr/>
        </p:nvSpPr>
        <p:spPr>
          <a:xfrm>
            <a:off x="566928" y="5806440"/>
            <a:ext cx="4572000" cy="365760"/>
          </a:xfrm>
          <a:prstGeom prst="rect">
            <a:avLst/>
          </a:prstGeom>
          <a:noFill/>
          <a:ln/>
        </p:spPr>
        <p:txBody>
          <a:bodyPr wrap="square" lIns="0" tIns="0" rIns="0" bIns="0" rtlCol="0" anchor="ctr"/>
          <a:lstStyle/>
          <a:p>
            <a:pPr indent="0" marL="0">
              <a:buNone/>
            </a:pPr>
            <a:r>
              <a:rPr lang="en-US" sz="1500" b="1" dirty="0">
                <a:solidFill>
                  <a:srgbClr val="38BDF8"/>
                </a:solidFill>
                <a:latin typeface="Arial" pitchFamily="34" charset="0"/>
                <a:ea typeface="Arial" pitchFamily="34" charset="-122"/>
                <a:cs typeface="Arial" pitchFamily="34" charset="-120"/>
              </a:rPr>
              <a:t>veda-net.com</a:t>
            </a:r>
            <a:endParaRPr lang="en-US" sz="1500" dirty="0"/>
          </a:p>
        </p:txBody>
      </p:sp>
      <p:sp>
        <p:nvSpPr>
          <p:cNvPr id="8" name="Text 4"/>
          <p:cNvSpPr txBox="1"/>
          <p:nvPr/>
        </p:nvSpPr>
        <p:spPr>
          <a:xfrm>
            <a:off x="566928" y="6217920"/>
            <a:ext cx="4572000" cy="320040"/>
          </a:xfrm>
          <a:prstGeom prst="rect">
            <a:avLst/>
          </a:prstGeom>
          <a:noFill/>
          <a:ln/>
        </p:spPr>
        <p:txBody>
          <a:bodyPr wrap="square" lIns="0" tIns="0" rIns="0" bIns="0" rtlCol="0" anchor="ctr"/>
          <a:lstStyle/>
          <a:p>
            <a:pPr indent="0" marL="0">
              <a:buNone/>
            </a:pPr>
            <a:r>
              <a:rPr lang="en-US" sz="1050" spc="300" kern="0" dirty="0">
                <a:solidFill>
                  <a:srgbClr val="8FB4B4"/>
                </a:solidFill>
                <a:latin typeface="Courier New" pitchFamily="34" charset="0"/>
                <a:ea typeface="Courier New" pitchFamily="34" charset="-122"/>
                <a:cs typeface="Courier New" pitchFamily="34" charset="-120"/>
              </a:rPr>
              <a:t>DIGITAL EXPO BOOTH</a:t>
            </a:r>
            <a:endParaRPr lang="en-US" sz="1050" dirty="0"/>
          </a:p>
        </p:txBody>
      </p:sp>
      <p:pic>
        <p:nvPicPr>
          <p:cNvPr id="9" name="Picture 8" descr="maz_logo_small.png"/>
          <p:cNvPicPr>
            <a:picLocks noChangeAspect="1"/>
          </p:cNvPicPr>
          <p:nvPr/>
        </p:nvPicPr>
        <p:blipFill>
          <a:blip r:embed="rId6"/>
          <a:stretch>
            <a:fillRect/>
          </a:stretch>
        </p:blipFill>
        <p:spPr>
          <a:xfrm>
            <a:off x="11240719" y="6291072"/>
            <a:ext cx="384048" cy="375037"/>
          </a:xfrm>
          <a:prstGeom prst="rect">
            <a:avLst/>
          </a:prstGeom>
        </p:spPr>
      </p:pic>
      <p:pic>
        <p:nvPicPr>
          <p:cNvPr id="10" name="Picture 9" descr="maz_school_logo_small.png"/>
          <p:cNvPicPr>
            <a:picLocks noChangeAspect="1"/>
          </p:cNvPicPr>
          <p:nvPr/>
        </p:nvPicPr>
        <p:blipFill>
          <a:blip r:embed="rId7"/>
          <a:stretch>
            <a:fillRect/>
          </a:stretch>
        </p:blipFill>
        <p:spPr>
          <a:xfrm>
            <a:off x="10726671" y="6320157"/>
            <a:ext cx="384048" cy="31686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 y="475488"/>
            <a:ext cx="8229600" cy="292608"/>
          </a:xfrm>
          <a:prstGeom prst="rect">
            <a:avLst/>
          </a:prstGeom>
          <a:noFill/>
          <a:ln/>
        </p:spPr>
        <p:txBody>
          <a:bodyPr wrap="square" lIns="0" tIns="0" rIns="0" bIns="0" rtlCol="0" anchor="ctr"/>
          <a:lstStyle/>
          <a:p>
            <a:pPr indent="0" marL="0">
              <a:buNone/>
            </a:pPr>
            <a:r>
              <a:rPr lang="en-US" sz="1200" spc="300" kern="0" dirty="0">
                <a:solidFill>
                  <a:srgbClr val="00D4AA"/>
                </a:solidFill>
                <a:latin typeface="Courier New" pitchFamily="34" charset="0"/>
                <a:ea typeface="Courier New" pitchFamily="34" charset="-122"/>
                <a:cs typeface="Courier New" pitchFamily="34" charset="-120"/>
              </a:rPr>
              <a:t>CORE STUDY TOOLS</a:t>
            </a:r>
            <a:endParaRPr lang="en-US" sz="1200" dirty="0"/>
          </a:p>
        </p:txBody>
      </p:sp>
      <p:sp>
        <p:nvSpPr>
          <p:cNvPr id="3" name="Text 1"/>
          <p:cNvSpPr txBox="1"/>
          <p:nvPr/>
        </p:nvSpPr>
        <p:spPr>
          <a:xfrm>
            <a:off x="566928" y="822960"/>
            <a:ext cx="11057839" cy="868680"/>
          </a:xfrm>
          <a:prstGeom prst="rect">
            <a:avLst/>
          </a:prstGeom>
          <a:noFill/>
          <a:ln/>
        </p:spPr>
        <p:txBody>
          <a:bodyPr wrap="square" lIns="0" tIns="0" rIns="0" bIns="0" rtlCol="0" anchor="ctr"/>
          <a:lstStyle/>
          <a:p>
            <a:pPr indent="0" marL="0">
              <a:buNone/>
            </a:pPr>
            <a:r>
              <a:rPr lang="en-US" sz="3800" b="1" dirty="0">
                <a:solidFill>
                  <a:srgbClr val="E6F6F4"/>
                </a:solidFill>
                <a:latin typeface="Arial" pitchFamily="34" charset="0"/>
                <a:ea typeface="Arial" pitchFamily="34" charset="-122"/>
                <a:cs typeface="Arial" pitchFamily="34" charset="-120"/>
              </a:rPr>
              <a:t>Learn &amp; Organize</a:t>
            </a:r>
            <a:endParaRPr lang="en-US" sz="3800" dirty="0"/>
          </a:p>
        </p:txBody>
      </p:sp>
      <p:sp>
        <p:nvSpPr>
          <p:cNvPr id="4" name="Text 2"/>
          <p:cNvSpPr txBox="1"/>
          <p:nvPr/>
        </p:nvSpPr>
        <p:spPr>
          <a:xfrm>
            <a:off x="566928" y="1645920"/>
            <a:ext cx="11057839" cy="457200"/>
          </a:xfrm>
          <a:prstGeom prst="rect">
            <a:avLst/>
          </a:prstGeom>
          <a:noFill/>
          <a:ln/>
        </p:spPr>
        <p:txBody>
          <a:bodyPr wrap="square" lIns="0" tIns="0" rIns="0" bIns="0" rtlCol="0" anchor="t"/>
          <a:lstStyle/>
          <a:p>
            <a:pPr indent="0" marL="0">
              <a:buNone/>
            </a:pPr>
            <a:r>
              <a:rPr lang="en-US" sz="1400" dirty="0">
                <a:solidFill>
                  <a:srgbClr val="8FB4B4"/>
                </a:solidFill>
                <a:latin typeface="Arial" pitchFamily="34" charset="0"/>
                <a:ea typeface="Arial" pitchFamily="34" charset="-122"/>
                <a:cs typeface="Arial" pitchFamily="34" charset="-120"/>
              </a:rPr>
              <a:t>Everything a student needs to get through the actual schoolwork.</a:t>
            </a:r>
            <a:endParaRPr lang="en-US" sz="1400" dirty="0"/>
          </a:p>
        </p:txBody>
      </p:sp>
      <p:sp>
        <p:nvSpPr>
          <p:cNvPr id="5" name="Shape 3"/>
          <p:cNvSpPr/>
          <p:nvPr/>
        </p:nvSpPr>
        <p:spPr>
          <a:xfrm>
            <a:off x="566928" y="2148840"/>
            <a:ext cx="2586152" cy="1847088"/>
          </a:xfrm>
          <a:prstGeom prst="roundRect">
            <a:avLst>
              <a:gd name="adj" fmla="val 5446"/>
            </a:avLst>
          </a:prstGeom>
          <a:solidFill>
            <a:srgbClr val="0E2A36">
              <a:alpha val="90000"/>
            </a:srgbClr>
          </a:solidFill>
          <a:ln w="12700">
            <a:solidFill>
              <a:srgbClr val="245A63"/>
            </a:solidFill>
            <a:prstDash val="solid"/>
          </a:ln>
        </p:spPr>
      </p:sp>
      <p:pic>
        <p:nvPicPr>
          <p:cNvPr id="6" name="Image 0" descr="/private/tmp/claude-502/-Users-keshavkarthik-Downloads-digital-expo-/4725727b-8639-429e-86c6-a78454e31f2a/scratchpad/deck/assets/ic-ask.png">    </p:cNvPr>
          <p:cNvPicPr>
            <a:picLocks noChangeAspect="1"/>
          </p:cNvPicPr>
          <p:nvPr/>
        </p:nvPicPr>
        <p:blipFill>
          <a:blip r:embed="rId2"/>
          <a:stretch>
            <a:fillRect/>
          </a:stretch>
        </p:blipFill>
        <p:spPr>
          <a:xfrm>
            <a:off x="804672" y="2386584"/>
            <a:ext cx="384048" cy="384048"/>
          </a:xfrm>
          <a:prstGeom prst="rect">
            <a:avLst/>
          </a:prstGeom>
        </p:spPr>
      </p:pic>
      <p:sp>
        <p:nvSpPr>
          <p:cNvPr id="7" name="Text 4"/>
          <p:cNvSpPr txBox="1"/>
          <p:nvPr/>
        </p:nvSpPr>
        <p:spPr>
          <a:xfrm>
            <a:off x="804672" y="2935224"/>
            <a:ext cx="2128952" cy="384048"/>
          </a:xfrm>
          <a:prstGeom prst="rect">
            <a:avLst/>
          </a:prstGeom>
          <a:noFill/>
          <a:ln/>
        </p:spPr>
        <p:txBody>
          <a:bodyPr wrap="square" lIns="0" tIns="0" rIns="0" bIns="0" rtlCol="0" anchor="ctr"/>
          <a:lstStyle/>
          <a:p>
            <a:pPr indent="0" marL="0">
              <a:buNone/>
            </a:pPr>
            <a:r>
              <a:rPr lang="en-US" sz="1550" b="1" dirty="0">
                <a:solidFill>
                  <a:srgbClr val="E6F6F4"/>
                </a:solidFill>
                <a:latin typeface="Arial" pitchFamily="34" charset="0"/>
                <a:ea typeface="Arial" pitchFamily="34" charset="-122"/>
                <a:cs typeface="Arial" pitchFamily="34" charset="-120"/>
              </a:rPr>
              <a:t>Ask Veda</a:t>
            </a:r>
            <a:endParaRPr lang="en-US" sz="1550" dirty="0"/>
          </a:p>
        </p:txBody>
      </p:sp>
      <p:sp>
        <p:nvSpPr>
          <p:cNvPr id="8" name="Text 5"/>
          <p:cNvSpPr txBox="1"/>
          <p:nvPr/>
        </p:nvSpPr>
        <p:spPr>
          <a:xfrm>
            <a:off x="804672" y="3209544"/>
            <a:ext cx="2128952" cy="612648"/>
          </a:xfrm>
          <a:prstGeom prst="rect">
            <a:avLst/>
          </a:prstGeom>
          <a:noFill/>
          <a:ln/>
        </p:spPr>
        <p:txBody>
          <a:bodyPr wrap="square" lIns="0" tIns="0" rIns="0" bIns="0" rtlCol="0" anchor="t"/>
          <a:lstStyle/>
          <a:p>
            <a:pPr indent="0" marL="0">
              <a:lnSpc>
                <a:spcPts val="1300"/>
              </a:lnSpc>
              <a:buNone/>
            </a:pPr>
            <a:r>
              <a:rPr lang="en-US" sz="1050" dirty="0">
                <a:solidFill>
                  <a:srgbClr val="8FB4B4"/>
                </a:solidFill>
                <a:latin typeface="Arial" pitchFamily="34" charset="0"/>
                <a:ea typeface="Arial" pitchFamily="34" charset="-122"/>
                <a:cs typeface="Arial" pitchFamily="34" charset="-120"/>
              </a:rPr>
              <a:t>AI homework helper for quick, guided answers.</a:t>
            </a:r>
            <a:endParaRPr lang="en-US" sz="1050" dirty="0"/>
          </a:p>
        </p:txBody>
      </p:sp>
      <p:sp>
        <p:nvSpPr>
          <p:cNvPr id="9" name="Shape 6"/>
          <p:cNvSpPr/>
          <p:nvPr/>
        </p:nvSpPr>
        <p:spPr>
          <a:xfrm>
            <a:off x="3390824" y="2148840"/>
            <a:ext cx="2586152" cy="1847088"/>
          </a:xfrm>
          <a:prstGeom prst="roundRect">
            <a:avLst>
              <a:gd name="adj" fmla="val 5446"/>
            </a:avLst>
          </a:prstGeom>
          <a:solidFill>
            <a:srgbClr val="0E2A36">
              <a:alpha val="90000"/>
            </a:srgbClr>
          </a:solidFill>
          <a:ln w="12700">
            <a:solidFill>
              <a:srgbClr val="245A63"/>
            </a:solidFill>
            <a:prstDash val="solid"/>
          </a:ln>
        </p:spPr>
      </p:sp>
      <p:pic>
        <p:nvPicPr>
          <p:cNvPr id="10" name="Image 1" descr="/private/tmp/claude-502/-Users-keshavkarthik-Downloads-digital-expo-/4725727b-8639-429e-86c6-a78454e31f2a/scratchpad/deck/assets/ic-study.png">    </p:cNvPr>
          <p:cNvPicPr>
            <a:picLocks noChangeAspect="1"/>
          </p:cNvPicPr>
          <p:nvPr/>
        </p:nvPicPr>
        <p:blipFill>
          <a:blip r:embed="rId3"/>
          <a:stretch>
            <a:fillRect/>
          </a:stretch>
        </p:blipFill>
        <p:spPr>
          <a:xfrm>
            <a:off x="3628568" y="2386584"/>
            <a:ext cx="384048" cy="384048"/>
          </a:xfrm>
          <a:prstGeom prst="rect">
            <a:avLst/>
          </a:prstGeom>
        </p:spPr>
      </p:pic>
      <p:sp>
        <p:nvSpPr>
          <p:cNvPr id="11" name="Text 7"/>
          <p:cNvSpPr txBox="1"/>
          <p:nvPr/>
        </p:nvSpPr>
        <p:spPr>
          <a:xfrm>
            <a:off x="3628568" y="2935224"/>
            <a:ext cx="2128952" cy="384048"/>
          </a:xfrm>
          <a:prstGeom prst="rect">
            <a:avLst/>
          </a:prstGeom>
          <a:noFill/>
          <a:ln/>
        </p:spPr>
        <p:txBody>
          <a:bodyPr wrap="square" lIns="0" tIns="0" rIns="0" bIns="0" rtlCol="0" anchor="ctr"/>
          <a:lstStyle/>
          <a:p>
            <a:pPr indent="0" marL="0">
              <a:buNone/>
            </a:pPr>
            <a:r>
              <a:rPr lang="en-US" sz="1550" b="1" dirty="0">
                <a:solidFill>
                  <a:srgbClr val="E6F6F4"/>
                </a:solidFill>
                <a:latin typeface="Arial" pitchFamily="34" charset="0"/>
                <a:ea typeface="Arial" pitchFamily="34" charset="-122"/>
                <a:cs typeface="Arial" pitchFamily="34" charset="-120"/>
              </a:rPr>
              <a:t>Smart Study</a:t>
            </a:r>
            <a:endParaRPr lang="en-US" sz="1550" dirty="0"/>
          </a:p>
        </p:txBody>
      </p:sp>
      <p:sp>
        <p:nvSpPr>
          <p:cNvPr id="12" name="Text 8"/>
          <p:cNvSpPr txBox="1"/>
          <p:nvPr/>
        </p:nvSpPr>
        <p:spPr>
          <a:xfrm>
            <a:off x="3628568" y="3209544"/>
            <a:ext cx="2128952" cy="612648"/>
          </a:xfrm>
          <a:prstGeom prst="rect">
            <a:avLst/>
          </a:prstGeom>
          <a:noFill/>
          <a:ln/>
        </p:spPr>
        <p:txBody>
          <a:bodyPr wrap="square" lIns="0" tIns="0" rIns="0" bIns="0" rtlCol="0" anchor="t"/>
          <a:lstStyle/>
          <a:p>
            <a:pPr indent="0" marL="0">
              <a:lnSpc>
                <a:spcPts val="1300"/>
              </a:lnSpc>
              <a:buNone/>
            </a:pPr>
            <a:r>
              <a:rPr lang="en-US" sz="1050" dirty="0">
                <a:solidFill>
                  <a:srgbClr val="8FB4B4"/>
                </a:solidFill>
                <a:latin typeface="Arial" pitchFamily="34" charset="0"/>
                <a:ea typeface="Arial" pitchFamily="34" charset="-122"/>
                <a:cs typeface="Arial" pitchFamily="34" charset="-120"/>
              </a:rPr>
              <a:t>Structured study sessions built around real content.</a:t>
            </a:r>
            <a:endParaRPr lang="en-US" sz="1050" dirty="0"/>
          </a:p>
        </p:txBody>
      </p:sp>
      <p:sp>
        <p:nvSpPr>
          <p:cNvPr id="13" name="Shape 9"/>
          <p:cNvSpPr/>
          <p:nvPr/>
        </p:nvSpPr>
        <p:spPr>
          <a:xfrm>
            <a:off x="6214720" y="2148840"/>
            <a:ext cx="2586152" cy="1847088"/>
          </a:xfrm>
          <a:prstGeom prst="roundRect">
            <a:avLst>
              <a:gd name="adj" fmla="val 5446"/>
            </a:avLst>
          </a:prstGeom>
          <a:solidFill>
            <a:srgbClr val="0E2A36">
              <a:alpha val="90000"/>
            </a:srgbClr>
          </a:solidFill>
          <a:ln w="12700">
            <a:solidFill>
              <a:srgbClr val="245A63"/>
            </a:solidFill>
            <a:prstDash val="solid"/>
          </a:ln>
        </p:spPr>
      </p:sp>
      <p:pic>
        <p:nvPicPr>
          <p:cNvPr id="14" name="Image 2" descr="/private/tmp/claude-502/-Users-keshavkarthik-Downloads-digital-expo-/4725727b-8639-429e-86c6-a78454e31f2a/scratchpad/deck/assets/ic-notes.png">    </p:cNvPr>
          <p:cNvPicPr>
            <a:picLocks noChangeAspect="1"/>
          </p:cNvPicPr>
          <p:nvPr/>
        </p:nvPicPr>
        <p:blipFill>
          <a:blip r:embed="rId4"/>
          <a:stretch>
            <a:fillRect/>
          </a:stretch>
        </p:blipFill>
        <p:spPr>
          <a:xfrm>
            <a:off x="6452464" y="2386584"/>
            <a:ext cx="384048" cy="384048"/>
          </a:xfrm>
          <a:prstGeom prst="rect">
            <a:avLst/>
          </a:prstGeom>
        </p:spPr>
      </p:pic>
      <p:sp>
        <p:nvSpPr>
          <p:cNvPr id="15" name="Text 10"/>
          <p:cNvSpPr txBox="1"/>
          <p:nvPr/>
        </p:nvSpPr>
        <p:spPr>
          <a:xfrm>
            <a:off x="6452464" y="2935224"/>
            <a:ext cx="2128952" cy="384048"/>
          </a:xfrm>
          <a:prstGeom prst="rect">
            <a:avLst/>
          </a:prstGeom>
          <a:noFill/>
          <a:ln/>
        </p:spPr>
        <p:txBody>
          <a:bodyPr wrap="square" lIns="0" tIns="0" rIns="0" bIns="0" rtlCol="0" anchor="ctr"/>
          <a:lstStyle/>
          <a:p>
            <a:pPr indent="0" marL="0">
              <a:buNone/>
            </a:pPr>
            <a:r>
              <a:rPr lang="en-US" sz="1550" b="1" dirty="0">
                <a:solidFill>
                  <a:srgbClr val="E6F6F4"/>
                </a:solidFill>
                <a:latin typeface="Arial" pitchFamily="34" charset="0"/>
                <a:ea typeface="Arial" pitchFamily="34" charset="-122"/>
                <a:cs typeface="Arial" pitchFamily="34" charset="-120"/>
              </a:rPr>
              <a:t>Notes</a:t>
            </a:r>
            <a:endParaRPr lang="en-US" sz="1550" dirty="0"/>
          </a:p>
        </p:txBody>
      </p:sp>
      <p:sp>
        <p:nvSpPr>
          <p:cNvPr id="16" name="Text 11"/>
          <p:cNvSpPr txBox="1"/>
          <p:nvPr/>
        </p:nvSpPr>
        <p:spPr>
          <a:xfrm>
            <a:off x="6452464" y="3209544"/>
            <a:ext cx="2128952" cy="612648"/>
          </a:xfrm>
          <a:prstGeom prst="rect">
            <a:avLst/>
          </a:prstGeom>
          <a:noFill/>
          <a:ln/>
        </p:spPr>
        <p:txBody>
          <a:bodyPr wrap="square" lIns="0" tIns="0" rIns="0" bIns="0" rtlCol="0" anchor="t"/>
          <a:lstStyle/>
          <a:p>
            <a:pPr indent="0" marL="0">
              <a:lnSpc>
                <a:spcPts val="1300"/>
              </a:lnSpc>
              <a:buNone/>
            </a:pPr>
            <a:r>
              <a:rPr lang="en-US" sz="1050" dirty="0">
                <a:solidFill>
                  <a:srgbClr val="8FB4B4"/>
                </a:solidFill>
                <a:latin typeface="Arial" pitchFamily="34" charset="0"/>
                <a:ea typeface="Arial" pitchFamily="34" charset="-122"/>
                <a:cs typeface="Arial" pitchFamily="34" charset="-120"/>
              </a:rPr>
              <a:t>Fast note-taking, organised by subject.</a:t>
            </a:r>
            <a:endParaRPr lang="en-US" sz="1050" dirty="0"/>
          </a:p>
        </p:txBody>
      </p:sp>
      <p:sp>
        <p:nvSpPr>
          <p:cNvPr id="17" name="Shape 12"/>
          <p:cNvSpPr/>
          <p:nvPr/>
        </p:nvSpPr>
        <p:spPr>
          <a:xfrm>
            <a:off x="9038615" y="2148840"/>
            <a:ext cx="2586152" cy="1847088"/>
          </a:xfrm>
          <a:prstGeom prst="roundRect">
            <a:avLst>
              <a:gd name="adj" fmla="val 5446"/>
            </a:avLst>
          </a:prstGeom>
          <a:solidFill>
            <a:srgbClr val="0E2A36">
              <a:alpha val="90000"/>
            </a:srgbClr>
          </a:solidFill>
          <a:ln w="12700">
            <a:solidFill>
              <a:srgbClr val="245A63"/>
            </a:solidFill>
            <a:prstDash val="solid"/>
          </a:ln>
        </p:spPr>
      </p:sp>
      <p:pic>
        <p:nvPicPr>
          <p:cNvPr id="18" name="Image 3" descr="/private/tmp/claude-502/-Users-keshavkarthik-Downloads-digital-expo-/4725727b-8639-429e-86c6-a78454e31f2a/scratchpad/deck/assets/ic-planner.png">    </p:cNvPr>
          <p:cNvPicPr>
            <a:picLocks noChangeAspect="1"/>
          </p:cNvPicPr>
          <p:nvPr/>
        </p:nvPicPr>
        <p:blipFill>
          <a:blip r:embed="rId5"/>
          <a:stretch>
            <a:fillRect/>
          </a:stretch>
        </p:blipFill>
        <p:spPr>
          <a:xfrm>
            <a:off x="9276359" y="2386584"/>
            <a:ext cx="384048" cy="384048"/>
          </a:xfrm>
          <a:prstGeom prst="rect">
            <a:avLst/>
          </a:prstGeom>
        </p:spPr>
      </p:pic>
      <p:sp>
        <p:nvSpPr>
          <p:cNvPr id="19" name="Text 13"/>
          <p:cNvSpPr txBox="1"/>
          <p:nvPr/>
        </p:nvSpPr>
        <p:spPr>
          <a:xfrm>
            <a:off x="9276359" y="2935224"/>
            <a:ext cx="2128952" cy="384048"/>
          </a:xfrm>
          <a:prstGeom prst="rect">
            <a:avLst/>
          </a:prstGeom>
          <a:noFill/>
          <a:ln/>
        </p:spPr>
        <p:txBody>
          <a:bodyPr wrap="square" lIns="0" tIns="0" rIns="0" bIns="0" rtlCol="0" anchor="ctr"/>
          <a:lstStyle/>
          <a:p>
            <a:pPr indent="0" marL="0">
              <a:buNone/>
            </a:pPr>
            <a:r>
              <a:rPr lang="en-US" sz="1550" b="1" dirty="0">
                <a:solidFill>
                  <a:srgbClr val="E6F6F4"/>
                </a:solidFill>
                <a:latin typeface="Arial" pitchFamily="34" charset="0"/>
                <a:ea typeface="Arial" pitchFamily="34" charset="-122"/>
                <a:cs typeface="Arial" pitchFamily="34" charset="-120"/>
              </a:rPr>
              <a:t>Study Planner</a:t>
            </a:r>
            <a:endParaRPr lang="en-US" sz="1550" dirty="0"/>
          </a:p>
        </p:txBody>
      </p:sp>
      <p:sp>
        <p:nvSpPr>
          <p:cNvPr id="20" name="Text 14"/>
          <p:cNvSpPr txBox="1"/>
          <p:nvPr/>
        </p:nvSpPr>
        <p:spPr>
          <a:xfrm>
            <a:off x="9276359" y="3209544"/>
            <a:ext cx="2128952" cy="612648"/>
          </a:xfrm>
          <a:prstGeom prst="rect">
            <a:avLst/>
          </a:prstGeom>
          <a:noFill/>
          <a:ln/>
        </p:spPr>
        <p:txBody>
          <a:bodyPr wrap="square" lIns="0" tIns="0" rIns="0" bIns="0" rtlCol="0" anchor="t"/>
          <a:lstStyle/>
          <a:p>
            <a:pPr indent="0" marL="0">
              <a:lnSpc>
                <a:spcPts val="1300"/>
              </a:lnSpc>
              <a:buNone/>
            </a:pPr>
            <a:r>
              <a:rPr lang="en-US" sz="1050" dirty="0">
                <a:solidFill>
                  <a:srgbClr val="8FB4B4"/>
                </a:solidFill>
                <a:latin typeface="Arial" pitchFamily="34" charset="0"/>
                <a:ea typeface="Arial" pitchFamily="34" charset="-122"/>
                <a:cs typeface="Arial" pitchFamily="34" charset="-120"/>
              </a:rPr>
              <a:t>Plans revision time across subjects.</a:t>
            </a:r>
            <a:endParaRPr lang="en-US" sz="1050" dirty="0"/>
          </a:p>
        </p:txBody>
      </p:sp>
      <p:sp>
        <p:nvSpPr>
          <p:cNvPr id="21" name="Shape 15"/>
          <p:cNvSpPr/>
          <p:nvPr/>
        </p:nvSpPr>
        <p:spPr>
          <a:xfrm>
            <a:off x="566928" y="4215384"/>
            <a:ext cx="2586152" cy="1847088"/>
          </a:xfrm>
          <a:prstGeom prst="roundRect">
            <a:avLst>
              <a:gd name="adj" fmla="val 5446"/>
            </a:avLst>
          </a:prstGeom>
          <a:solidFill>
            <a:srgbClr val="0E2A36">
              <a:alpha val="90000"/>
            </a:srgbClr>
          </a:solidFill>
          <a:ln w="12700">
            <a:solidFill>
              <a:srgbClr val="245A63"/>
            </a:solidFill>
            <a:prstDash val="solid"/>
          </a:ln>
        </p:spPr>
      </p:sp>
      <p:pic>
        <p:nvPicPr>
          <p:cNvPr id="22" name="Image 4" descr="/private/tmp/claude-502/-Users-keshavkarthik-Downloads-digital-expo-/4725727b-8639-429e-86c6-a78454e31f2a/scratchpad/deck/assets/ic-todo.png">    </p:cNvPr>
          <p:cNvPicPr>
            <a:picLocks noChangeAspect="1"/>
          </p:cNvPicPr>
          <p:nvPr/>
        </p:nvPicPr>
        <p:blipFill>
          <a:blip r:embed="rId6"/>
          <a:stretch>
            <a:fillRect/>
          </a:stretch>
        </p:blipFill>
        <p:spPr>
          <a:xfrm>
            <a:off x="804672" y="4453128"/>
            <a:ext cx="384048" cy="384048"/>
          </a:xfrm>
          <a:prstGeom prst="rect">
            <a:avLst/>
          </a:prstGeom>
        </p:spPr>
      </p:pic>
      <p:sp>
        <p:nvSpPr>
          <p:cNvPr id="23" name="Text 16"/>
          <p:cNvSpPr txBox="1"/>
          <p:nvPr/>
        </p:nvSpPr>
        <p:spPr>
          <a:xfrm>
            <a:off x="804672" y="5001768"/>
            <a:ext cx="2128952" cy="384048"/>
          </a:xfrm>
          <a:prstGeom prst="rect">
            <a:avLst/>
          </a:prstGeom>
          <a:noFill/>
          <a:ln/>
        </p:spPr>
        <p:txBody>
          <a:bodyPr wrap="square" lIns="0" tIns="0" rIns="0" bIns="0" rtlCol="0" anchor="ctr"/>
          <a:lstStyle/>
          <a:p>
            <a:pPr indent="0" marL="0">
              <a:buNone/>
            </a:pPr>
            <a:r>
              <a:rPr lang="en-US" sz="1550" b="1" dirty="0">
                <a:solidFill>
                  <a:srgbClr val="E6F6F4"/>
                </a:solidFill>
                <a:latin typeface="Arial" pitchFamily="34" charset="0"/>
                <a:ea typeface="Arial" pitchFamily="34" charset="-122"/>
                <a:cs typeface="Arial" pitchFamily="34" charset="-120"/>
              </a:rPr>
              <a:t>To-Do List</a:t>
            </a:r>
            <a:endParaRPr lang="en-US" sz="1550" dirty="0"/>
          </a:p>
        </p:txBody>
      </p:sp>
      <p:sp>
        <p:nvSpPr>
          <p:cNvPr id="24" name="Text 17"/>
          <p:cNvSpPr txBox="1"/>
          <p:nvPr/>
        </p:nvSpPr>
        <p:spPr>
          <a:xfrm>
            <a:off x="804672" y="5276088"/>
            <a:ext cx="2128952" cy="612648"/>
          </a:xfrm>
          <a:prstGeom prst="rect">
            <a:avLst/>
          </a:prstGeom>
          <a:noFill/>
          <a:ln/>
        </p:spPr>
        <p:txBody>
          <a:bodyPr wrap="square" lIns="0" tIns="0" rIns="0" bIns="0" rtlCol="0" anchor="t"/>
          <a:lstStyle/>
          <a:p>
            <a:pPr indent="0" marL="0">
              <a:lnSpc>
                <a:spcPts val="1300"/>
              </a:lnSpc>
              <a:buNone/>
            </a:pPr>
            <a:r>
              <a:rPr lang="en-US" sz="1050" dirty="0">
                <a:solidFill>
                  <a:srgbClr val="8FB4B4"/>
                </a:solidFill>
                <a:latin typeface="Arial" pitchFamily="34" charset="0"/>
                <a:ea typeface="Arial" pitchFamily="34" charset="-122"/>
                <a:cs typeface="Arial" pitchFamily="34" charset="-120"/>
              </a:rPr>
              <a:t>Daily tasks and deadlines in one place.</a:t>
            </a:r>
            <a:endParaRPr lang="en-US" sz="1050" dirty="0"/>
          </a:p>
        </p:txBody>
      </p:sp>
      <p:sp>
        <p:nvSpPr>
          <p:cNvPr id="25" name="Shape 18"/>
          <p:cNvSpPr/>
          <p:nvPr/>
        </p:nvSpPr>
        <p:spPr>
          <a:xfrm>
            <a:off x="3390824" y="4215384"/>
            <a:ext cx="2586152" cy="1847088"/>
          </a:xfrm>
          <a:prstGeom prst="roundRect">
            <a:avLst>
              <a:gd name="adj" fmla="val 5446"/>
            </a:avLst>
          </a:prstGeom>
          <a:solidFill>
            <a:srgbClr val="0E2A36">
              <a:alpha val="90000"/>
            </a:srgbClr>
          </a:solidFill>
          <a:ln w="12700">
            <a:solidFill>
              <a:srgbClr val="245A63"/>
            </a:solidFill>
            <a:prstDash val="solid"/>
          </a:ln>
        </p:spPr>
      </p:sp>
      <p:pic>
        <p:nvPicPr>
          <p:cNvPr id="26" name="Image 5" descr="/private/tmp/claude-502/-Users-keshavkarthik-Downloads-digital-expo-/4725727b-8639-429e-86c6-a78454e31f2a/scratchpad/deck/assets/ic-exam.png">    </p:cNvPr>
          <p:cNvPicPr>
            <a:picLocks noChangeAspect="1"/>
          </p:cNvPicPr>
          <p:nvPr/>
        </p:nvPicPr>
        <p:blipFill>
          <a:blip r:embed="rId7"/>
          <a:stretch>
            <a:fillRect/>
          </a:stretch>
        </p:blipFill>
        <p:spPr>
          <a:xfrm>
            <a:off x="3628568" y="4453128"/>
            <a:ext cx="384048" cy="384048"/>
          </a:xfrm>
          <a:prstGeom prst="rect">
            <a:avLst/>
          </a:prstGeom>
        </p:spPr>
      </p:pic>
      <p:sp>
        <p:nvSpPr>
          <p:cNvPr id="27" name="Text 19"/>
          <p:cNvSpPr txBox="1"/>
          <p:nvPr/>
        </p:nvSpPr>
        <p:spPr>
          <a:xfrm>
            <a:off x="3628568" y="5001768"/>
            <a:ext cx="2128952" cy="384048"/>
          </a:xfrm>
          <a:prstGeom prst="rect">
            <a:avLst/>
          </a:prstGeom>
          <a:noFill/>
          <a:ln/>
        </p:spPr>
        <p:txBody>
          <a:bodyPr wrap="square" lIns="0" tIns="0" rIns="0" bIns="0" rtlCol="0" anchor="ctr"/>
          <a:lstStyle/>
          <a:p>
            <a:pPr indent="0" marL="0">
              <a:buNone/>
            </a:pPr>
            <a:r>
              <a:rPr lang="en-US" sz="1550" b="1" dirty="0">
                <a:solidFill>
                  <a:srgbClr val="E6F6F4"/>
                </a:solidFill>
                <a:latin typeface="Arial" pitchFamily="34" charset="0"/>
                <a:ea typeface="Arial" pitchFamily="34" charset="-122"/>
                <a:cs typeface="Arial" pitchFamily="34" charset="-120"/>
              </a:rPr>
              <a:t>Exam Papers</a:t>
            </a:r>
            <a:endParaRPr lang="en-US" sz="1550" dirty="0"/>
          </a:p>
        </p:txBody>
      </p:sp>
      <p:sp>
        <p:nvSpPr>
          <p:cNvPr id="28" name="Text 20"/>
          <p:cNvSpPr txBox="1"/>
          <p:nvPr/>
        </p:nvSpPr>
        <p:spPr>
          <a:xfrm>
            <a:off x="3628568" y="5276088"/>
            <a:ext cx="2128952" cy="612648"/>
          </a:xfrm>
          <a:prstGeom prst="rect">
            <a:avLst/>
          </a:prstGeom>
          <a:noFill/>
          <a:ln/>
        </p:spPr>
        <p:txBody>
          <a:bodyPr wrap="square" lIns="0" tIns="0" rIns="0" bIns="0" rtlCol="0" anchor="t"/>
          <a:lstStyle/>
          <a:p>
            <a:pPr indent="0" marL="0">
              <a:lnSpc>
                <a:spcPts val="1300"/>
              </a:lnSpc>
              <a:buNone/>
            </a:pPr>
            <a:r>
              <a:rPr lang="en-US" sz="1050" dirty="0">
                <a:solidFill>
                  <a:srgbClr val="8FB4B4"/>
                </a:solidFill>
                <a:latin typeface="Arial" pitchFamily="34" charset="0"/>
                <a:ea typeface="Arial" pitchFamily="34" charset="-122"/>
                <a:cs typeface="Arial" pitchFamily="34" charset="-120"/>
              </a:rPr>
              <a:t>A library of past exam papers to practise with.</a:t>
            </a:r>
            <a:endParaRPr lang="en-US" sz="1050" dirty="0"/>
          </a:p>
        </p:txBody>
      </p:sp>
      <p:sp>
        <p:nvSpPr>
          <p:cNvPr id="29" name="Shape 21"/>
          <p:cNvSpPr/>
          <p:nvPr/>
        </p:nvSpPr>
        <p:spPr>
          <a:xfrm>
            <a:off x="6214720" y="4215384"/>
            <a:ext cx="2586152" cy="1847088"/>
          </a:xfrm>
          <a:prstGeom prst="roundRect">
            <a:avLst>
              <a:gd name="adj" fmla="val 5446"/>
            </a:avLst>
          </a:prstGeom>
          <a:solidFill>
            <a:srgbClr val="0E2A36">
              <a:alpha val="90000"/>
            </a:srgbClr>
          </a:solidFill>
          <a:ln w="12700">
            <a:solidFill>
              <a:srgbClr val="245A63"/>
            </a:solidFill>
            <a:prstDash val="solid"/>
          </a:ln>
        </p:spPr>
      </p:sp>
      <p:pic>
        <p:nvPicPr>
          <p:cNvPr id="30" name="Image 6" descr="/private/tmp/claude-502/-Users-keshavkarthik-Downloads-digital-expo-/4725727b-8639-429e-86c6-a78454e31f2a/scratchpad/deck/assets/ic-tracker.png">    </p:cNvPr>
          <p:cNvPicPr>
            <a:picLocks noChangeAspect="1"/>
          </p:cNvPicPr>
          <p:nvPr/>
        </p:nvPicPr>
        <p:blipFill>
          <a:blip r:embed="rId8"/>
          <a:stretch>
            <a:fillRect/>
          </a:stretch>
        </p:blipFill>
        <p:spPr>
          <a:xfrm>
            <a:off x="6452464" y="4453128"/>
            <a:ext cx="384048" cy="384048"/>
          </a:xfrm>
          <a:prstGeom prst="rect">
            <a:avLst/>
          </a:prstGeom>
        </p:spPr>
      </p:pic>
      <p:sp>
        <p:nvSpPr>
          <p:cNvPr id="31" name="Text 22"/>
          <p:cNvSpPr txBox="1"/>
          <p:nvPr/>
        </p:nvSpPr>
        <p:spPr>
          <a:xfrm>
            <a:off x="6452464" y="5001768"/>
            <a:ext cx="2128952" cy="384048"/>
          </a:xfrm>
          <a:prstGeom prst="rect">
            <a:avLst/>
          </a:prstGeom>
          <a:noFill/>
          <a:ln/>
        </p:spPr>
        <p:txBody>
          <a:bodyPr wrap="square" lIns="0" tIns="0" rIns="0" bIns="0" rtlCol="0" anchor="ctr"/>
          <a:lstStyle/>
          <a:p>
            <a:pPr indent="0" marL="0">
              <a:buNone/>
            </a:pPr>
            <a:r>
              <a:rPr lang="en-US" sz="1550" b="1" dirty="0">
                <a:solidFill>
                  <a:srgbClr val="E6F6F4"/>
                </a:solidFill>
                <a:latin typeface="Arial" pitchFamily="34" charset="0"/>
                <a:ea typeface="Arial" pitchFamily="34" charset="-122"/>
                <a:cs typeface="Arial" pitchFamily="34" charset="-120"/>
              </a:rPr>
              <a:t>Paper Tracker</a:t>
            </a:r>
            <a:endParaRPr lang="en-US" sz="1550" dirty="0"/>
          </a:p>
        </p:txBody>
      </p:sp>
      <p:sp>
        <p:nvSpPr>
          <p:cNvPr id="32" name="Text 23"/>
          <p:cNvSpPr txBox="1"/>
          <p:nvPr/>
        </p:nvSpPr>
        <p:spPr>
          <a:xfrm>
            <a:off x="6452464" y="5276088"/>
            <a:ext cx="2128952" cy="612648"/>
          </a:xfrm>
          <a:prstGeom prst="rect">
            <a:avLst/>
          </a:prstGeom>
          <a:noFill/>
          <a:ln/>
        </p:spPr>
        <p:txBody>
          <a:bodyPr wrap="square" lIns="0" tIns="0" rIns="0" bIns="0" rtlCol="0" anchor="t"/>
          <a:lstStyle/>
          <a:p>
            <a:pPr indent="0" marL="0">
              <a:lnSpc>
                <a:spcPts val="1300"/>
              </a:lnSpc>
              <a:buNone/>
            </a:pPr>
            <a:r>
              <a:rPr lang="en-US" sz="1050" dirty="0">
                <a:solidFill>
                  <a:srgbClr val="8FB4B4"/>
                </a:solidFill>
                <a:latin typeface="Arial" pitchFamily="34" charset="0"/>
                <a:ea typeface="Arial" pitchFamily="34" charset="-122"/>
                <a:cs typeface="Arial" pitchFamily="34" charset="-120"/>
              </a:rPr>
              <a:t>Tracks which papers you've attempted.</a:t>
            </a:r>
            <a:endParaRPr lang="en-US" sz="1050" dirty="0"/>
          </a:p>
        </p:txBody>
      </p:sp>
      <p:sp>
        <p:nvSpPr>
          <p:cNvPr id="33" name="Text 24"/>
          <p:cNvSpPr txBox="1"/>
          <p:nvPr/>
        </p:nvSpPr>
        <p:spPr>
          <a:xfrm>
            <a:off x="1080976" y="6400800"/>
            <a:ext cx="914400" cy="274320"/>
          </a:xfrm>
          <a:prstGeom prst="rect">
            <a:avLst/>
          </a:prstGeom>
          <a:noFill/>
          <a:ln/>
        </p:spPr>
        <p:txBody>
          <a:bodyPr wrap="square" lIns="0" tIns="0" rIns="0" bIns="0" rtlCol="0" anchor="ctr"/>
          <a:lstStyle/>
          <a:p>
            <a:pPr indent="0" marL="0">
              <a:buNone/>
            </a:pPr>
            <a:r>
              <a:rPr lang="en-US" sz="1100" dirty="0">
                <a:solidFill>
                  <a:srgbClr val="8FB4B4"/>
                </a:solidFill>
                <a:latin typeface="Courier New" pitchFamily="34" charset="0"/>
                <a:ea typeface="Courier New" pitchFamily="34" charset="-122"/>
                <a:cs typeface="Courier New" pitchFamily="34" charset="-120"/>
              </a:rPr>
              <a:t>02</a:t>
            </a:r>
            <a:endParaRPr lang="en-US" sz="1100" dirty="0"/>
          </a:p>
        </p:txBody>
      </p:sp>
      <p:pic>
        <p:nvPicPr>
          <p:cNvPr id="34" name="Image 7" descr="/private/tmp/claude-502/-Users-keshavkarthik-Downloads-digital-expo-/4725727b-8639-429e-86c6-a78454e31f2a/scratchpad/deck/assets/logo.png">    </p:cNvPr>
          <p:cNvPicPr>
            <a:picLocks noChangeAspect="1"/>
          </p:cNvPicPr>
          <p:nvPr/>
        </p:nvPicPr>
        <p:blipFill>
          <a:blip r:embed="rId9">
            <a:alphaModFix amt="85000"/>
          </a:blip>
          <a:stretch>
            <a:fillRect/>
          </a:stretch>
        </p:blipFill>
        <p:spPr>
          <a:xfrm>
            <a:off x="11240719" y="6291072"/>
            <a:ext cx="384048" cy="384048"/>
          </a:xfrm>
          <a:prstGeom prst="rect">
            <a:avLst/>
          </a:prstGeom>
        </p:spPr>
      </p:pic>
      <p:pic>
        <p:nvPicPr>
          <p:cNvPr id="35" name="Picture 34" descr="maz_logo_small.png"/>
          <p:cNvPicPr>
            <a:picLocks noChangeAspect="1"/>
          </p:cNvPicPr>
          <p:nvPr/>
        </p:nvPicPr>
        <p:blipFill>
          <a:blip r:embed="rId12"/>
          <a:stretch>
            <a:fillRect/>
          </a:stretch>
        </p:blipFill>
        <p:spPr>
          <a:xfrm>
            <a:off x="566928" y="6291072"/>
            <a:ext cx="384048" cy="37503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 y="475488"/>
            <a:ext cx="8229600" cy="292608"/>
          </a:xfrm>
          <a:prstGeom prst="rect">
            <a:avLst/>
          </a:prstGeom>
          <a:noFill/>
          <a:ln/>
        </p:spPr>
        <p:txBody>
          <a:bodyPr wrap="square" lIns="0" tIns="0" rIns="0" bIns="0" rtlCol="0" anchor="ctr"/>
          <a:lstStyle/>
          <a:p>
            <a:pPr indent="0" marL="0">
              <a:buNone/>
            </a:pPr>
            <a:r>
              <a:rPr lang="en-US" sz="1200" spc="300" kern="0" dirty="0">
                <a:solidFill>
                  <a:srgbClr val="00D4AA"/>
                </a:solidFill>
                <a:latin typeface="Courier New" pitchFamily="34" charset="0"/>
                <a:ea typeface="Courier New" pitchFamily="34" charset="-122"/>
                <a:cs typeface="Courier New" pitchFamily="34" charset="-120"/>
              </a:rPr>
              <a:t>COMMUNITY, MOTIVATION &amp; SAFETY</a:t>
            </a:r>
            <a:endParaRPr lang="en-US" sz="1200" dirty="0"/>
          </a:p>
        </p:txBody>
      </p:sp>
      <p:sp>
        <p:nvSpPr>
          <p:cNvPr id="3" name="Text 1"/>
          <p:cNvSpPr txBox="1"/>
          <p:nvPr/>
        </p:nvSpPr>
        <p:spPr>
          <a:xfrm>
            <a:off x="566928" y="822960"/>
            <a:ext cx="11057839" cy="868680"/>
          </a:xfrm>
          <a:prstGeom prst="rect">
            <a:avLst/>
          </a:prstGeom>
          <a:noFill/>
          <a:ln/>
        </p:spPr>
        <p:txBody>
          <a:bodyPr wrap="square" lIns="0" tIns="0" rIns="0" bIns="0" rtlCol="0" anchor="ctr"/>
          <a:lstStyle/>
          <a:p>
            <a:pPr indent="0" marL="0">
              <a:buNone/>
            </a:pPr>
            <a:r>
              <a:rPr lang="en-US" sz="3800" b="1" dirty="0">
                <a:solidFill>
                  <a:srgbClr val="E6F6F4"/>
                </a:solidFill>
                <a:latin typeface="Arial" pitchFamily="34" charset="0"/>
                <a:ea typeface="Arial" pitchFamily="34" charset="-122"/>
                <a:cs typeface="Arial" pitchFamily="34" charset="-120"/>
              </a:rPr>
              <a:t>Connect &amp; Engage</a:t>
            </a:r>
            <a:endParaRPr lang="en-US" sz="3800" dirty="0"/>
          </a:p>
        </p:txBody>
      </p:sp>
      <p:sp>
        <p:nvSpPr>
          <p:cNvPr id="4" name="Text 2"/>
          <p:cNvSpPr txBox="1"/>
          <p:nvPr/>
        </p:nvSpPr>
        <p:spPr>
          <a:xfrm>
            <a:off x="566928" y="1645920"/>
            <a:ext cx="11057839" cy="457200"/>
          </a:xfrm>
          <a:prstGeom prst="rect">
            <a:avLst/>
          </a:prstGeom>
          <a:noFill/>
          <a:ln/>
        </p:spPr>
        <p:txBody>
          <a:bodyPr wrap="square" lIns="0" tIns="0" rIns="0" bIns="0" rtlCol="0" anchor="t"/>
          <a:lstStyle/>
          <a:p>
            <a:pPr indent="0" marL="0">
              <a:buNone/>
            </a:pPr>
            <a:r>
              <a:rPr lang="en-US" sz="1400" dirty="0">
                <a:solidFill>
                  <a:srgbClr val="8FB4B4"/>
                </a:solidFill>
                <a:latin typeface="Arial" pitchFamily="34" charset="0"/>
                <a:ea typeface="Arial" pitchFamily="34" charset="-122"/>
                <a:cs typeface="Arial" pitchFamily="34" charset="-120"/>
              </a:rPr>
              <a:t>The social and game layer that keeps students coming back — with a safety net built in.</a:t>
            </a:r>
            <a:endParaRPr lang="en-US" sz="1400" dirty="0"/>
          </a:p>
        </p:txBody>
      </p:sp>
      <p:sp>
        <p:nvSpPr>
          <p:cNvPr id="5" name="Shape 3"/>
          <p:cNvSpPr/>
          <p:nvPr/>
        </p:nvSpPr>
        <p:spPr>
          <a:xfrm>
            <a:off x="566928" y="2121408"/>
            <a:ext cx="3466490" cy="1993392"/>
          </a:xfrm>
          <a:prstGeom prst="roundRect">
            <a:avLst>
              <a:gd name="adj" fmla="val 5046"/>
            </a:avLst>
          </a:prstGeom>
          <a:solidFill>
            <a:srgbClr val="0E2A36">
              <a:alpha val="90000"/>
            </a:srgbClr>
          </a:solidFill>
          <a:ln w="12700">
            <a:solidFill>
              <a:srgbClr val="245A63"/>
            </a:solidFill>
            <a:prstDash val="solid"/>
          </a:ln>
        </p:spPr>
      </p:sp>
      <p:pic>
        <p:nvPicPr>
          <p:cNvPr id="6" name="Image 0" descr="/private/tmp/claude-502/-Users-keshavkarthik-Downloads-digital-expo-/4725727b-8639-429e-86c6-a78454e31f2a/scratchpad/deck/assets/ic-companion.png">    </p:cNvPr>
          <p:cNvPicPr>
            <a:picLocks noChangeAspect="1"/>
          </p:cNvPicPr>
          <p:nvPr/>
        </p:nvPicPr>
        <p:blipFill>
          <a:blip r:embed="rId2"/>
          <a:stretch>
            <a:fillRect/>
          </a:stretch>
        </p:blipFill>
        <p:spPr>
          <a:xfrm>
            <a:off x="804672" y="2359152"/>
            <a:ext cx="384048" cy="384048"/>
          </a:xfrm>
          <a:prstGeom prst="rect">
            <a:avLst/>
          </a:prstGeom>
        </p:spPr>
      </p:pic>
      <p:sp>
        <p:nvSpPr>
          <p:cNvPr id="7" name="Text 4"/>
          <p:cNvSpPr txBox="1"/>
          <p:nvPr/>
        </p:nvSpPr>
        <p:spPr>
          <a:xfrm>
            <a:off x="804672" y="2907792"/>
            <a:ext cx="3009290" cy="384048"/>
          </a:xfrm>
          <a:prstGeom prst="rect">
            <a:avLst/>
          </a:prstGeom>
          <a:noFill/>
          <a:ln/>
        </p:spPr>
        <p:txBody>
          <a:bodyPr wrap="square" lIns="0" tIns="0" rIns="0" bIns="0" rtlCol="0" anchor="ctr"/>
          <a:lstStyle/>
          <a:p>
            <a:pPr indent="0" marL="0">
              <a:buNone/>
            </a:pPr>
            <a:r>
              <a:rPr lang="en-US" sz="1550" b="1" dirty="0">
                <a:solidFill>
                  <a:srgbClr val="E6F6F4"/>
                </a:solidFill>
                <a:latin typeface="Arial" pitchFamily="34" charset="0"/>
                <a:ea typeface="Arial" pitchFamily="34" charset="-122"/>
                <a:cs typeface="Arial" pitchFamily="34" charset="-120"/>
              </a:rPr>
              <a:t>AI Companion</a:t>
            </a:r>
            <a:endParaRPr lang="en-US" sz="1550" dirty="0"/>
          </a:p>
        </p:txBody>
      </p:sp>
      <p:sp>
        <p:nvSpPr>
          <p:cNvPr id="8" name="Text 5"/>
          <p:cNvSpPr txBox="1"/>
          <p:nvPr/>
        </p:nvSpPr>
        <p:spPr>
          <a:xfrm>
            <a:off x="804672" y="3182112"/>
            <a:ext cx="3009290" cy="758952"/>
          </a:xfrm>
          <a:prstGeom prst="rect">
            <a:avLst/>
          </a:prstGeom>
          <a:noFill/>
          <a:ln/>
        </p:spPr>
        <p:txBody>
          <a:bodyPr wrap="square" lIns="0" tIns="0" rIns="0" bIns="0" rtlCol="0" anchor="t"/>
          <a:lstStyle/>
          <a:p>
            <a:pPr indent="0" marL="0">
              <a:lnSpc>
                <a:spcPts val="1300"/>
              </a:lnSpc>
              <a:buNone/>
            </a:pPr>
            <a:r>
              <a:rPr lang="en-US" sz="1050" dirty="0">
                <a:solidFill>
                  <a:srgbClr val="8FB4B4"/>
                </a:solidFill>
                <a:latin typeface="Arial" pitchFamily="34" charset="0"/>
                <a:ea typeface="Arial" pitchFamily="34" charset="-122"/>
                <a:cs typeface="Arial" pitchFamily="34" charset="-120"/>
              </a:rPr>
              <a:t>A conversational companion for daily check-ins.</a:t>
            </a:r>
            <a:endParaRPr lang="en-US" sz="1050" dirty="0"/>
          </a:p>
        </p:txBody>
      </p:sp>
      <p:sp>
        <p:nvSpPr>
          <p:cNvPr id="9" name="Shape 6"/>
          <p:cNvSpPr/>
          <p:nvPr/>
        </p:nvSpPr>
        <p:spPr>
          <a:xfrm>
            <a:off x="4362602" y="2121408"/>
            <a:ext cx="3466490" cy="1993392"/>
          </a:xfrm>
          <a:prstGeom prst="roundRect">
            <a:avLst>
              <a:gd name="adj" fmla="val 5046"/>
            </a:avLst>
          </a:prstGeom>
          <a:solidFill>
            <a:srgbClr val="0E2A36">
              <a:alpha val="90000"/>
            </a:srgbClr>
          </a:solidFill>
          <a:ln w="12700">
            <a:solidFill>
              <a:srgbClr val="245A63"/>
            </a:solidFill>
            <a:prstDash val="solid"/>
          </a:ln>
        </p:spPr>
      </p:sp>
      <p:pic>
        <p:nvPicPr>
          <p:cNvPr id="10" name="Image 1" descr="/private/tmp/claude-502/-Users-keshavkarthik-Downloads-digital-expo-/4725727b-8639-429e-86c6-a78454e31f2a/scratchpad/deck/assets/ic-journal.png">    </p:cNvPr>
          <p:cNvPicPr>
            <a:picLocks noChangeAspect="1"/>
          </p:cNvPicPr>
          <p:nvPr/>
        </p:nvPicPr>
        <p:blipFill>
          <a:blip r:embed="rId3"/>
          <a:stretch>
            <a:fillRect/>
          </a:stretch>
        </p:blipFill>
        <p:spPr>
          <a:xfrm>
            <a:off x="4600346" y="2359152"/>
            <a:ext cx="384048" cy="384048"/>
          </a:xfrm>
          <a:prstGeom prst="rect">
            <a:avLst/>
          </a:prstGeom>
        </p:spPr>
      </p:pic>
      <p:sp>
        <p:nvSpPr>
          <p:cNvPr id="11" name="Text 7"/>
          <p:cNvSpPr txBox="1"/>
          <p:nvPr/>
        </p:nvSpPr>
        <p:spPr>
          <a:xfrm>
            <a:off x="4600346" y="2907792"/>
            <a:ext cx="3009290" cy="384048"/>
          </a:xfrm>
          <a:prstGeom prst="rect">
            <a:avLst/>
          </a:prstGeom>
          <a:noFill/>
          <a:ln/>
        </p:spPr>
        <p:txBody>
          <a:bodyPr wrap="square" lIns="0" tIns="0" rIns="0" bIns="0" rtlCol="0" anchor="ctr"/>
          <a:lstStyle/>
          <a:p>
            <a:pPr indent="0" marL="0">
              <a:buNone/>
            </a:pPr>
            <a:r>
              <a:rPr lang="en-US" sz="1550" b="1" dirty="0">
                <a:solidFill>
                  <a:srgbClr val="E6F6F4"/>
                </a:solidFill>
                <a:latin typeface="Arial" pitchFamily="34" charset="0"/>
                <a:ea typeface="Arial" pitchFamily="34" charset="-122"/>
                <a:cs typeface="Arial" pitchFamily="34" charset="-120"/>
              </a:rPr>
              <a:t>Journal</a:t>
            </a:r>
            <a:endParaRPr lang="en-US" sz="1550" dirty="0"/>
          </a:p>
        </p:txBody>
      </p:sp>
      <p:sp>
        <p:nvSpPr>
          <p:cNvPr id="12" name="Text 8"/>
          <p:cNvSpPr txBox="1"/>
          <p:nvPr/>
        </p:nvSpPr>
        <p:spPr>
          <a:xfrm>
            <a:off x="4600346" y="3182112"/>
            <a:ext cx="3009290" cy="758952"/>
          </a:xfrm>
          <a:prstGeom prst="rect">
            <a:avLst/>
          </a:prstGeom>
          <a:noFill/>
          <a:ln/>
        </p:spPr>
        <p:txBody>
          <a:bodyPr wrap="square" lIns="0" tIns="0" rIns="0" bIns="0" rtlCol="0" anchor="t"/>
          <a:lstStyle/>
          <a:p>
            <a:pPr indent="0" marL="0">
              <a:lnSpc>
                <a:spcPts val="1300"/>
              </a:lnSpc>
              <a:buNone/>
            </a:pPr>
            <a:r>
              <a:rPr lang="en-US" sz="1050" dirty="0">
                <a:solidFill>
                  <a:srgbClr val="8FB4B4"/>
                </a:solidFill>
                <a:latin typeface="Arial" pitchFamily="34" charset="0"/>
                <a:ea typeface="Arial" pitchFamily="34" charset="-122"/>
                <a:cs typeface="Arial" pitchFamily="34" charset="-120"/>
              </a:rPr>
              <a:t>Personal journaling, including voice notes.</a:t>
            </a:r>
            <a:endParaRPr lang="en-US" sz="1050" dirty="0"/>
          </a:p>
        </p:txBody>
      </p:sp>
      <p:sp>
        <p:nvSpPr>
          <p:cNvPr id="13" name="Shape 9"/>
          <p:cNvSpPr/>
          <p:nvPr/>
        </p:nvSpPr>
        <p:spPr>
          <a:xfrm>
            <a:off x="8158277" y="2121408"/>
            <a:ext cx="3466490" cy="1993392"/>
          </a:xfrm>
          <a:prstGeom prst="roundRect">
            <a:avLst>
              <a:gd name="adj" fmla="val 5046"/>
            </a:avLst>
          </a:prstGeom>
          <a:solidFill>
            <a:srgbClr val="0E2A36">
              <a:alpha val="90000"/>
            </a:srgbClr>
          </a:solidFill>
          <a:ln w="12700">
            <a:solidFill>
              <a:srgbClr val="245A63"/>
            </a:solidFill>
            <a:prstDash val="solid"/>
          </a:ln>
        </p:spPr>
      </p:sp>
      <p:pic>
        <p:nvPicPr>
          <p:cNvPr id="14" name="Image 2" descr="/private/tmp/claude-502/-Users-keshavkarthik-Downloads-digital-expo-/4725727b-8639-429e-86c6-a78454e31f2a/scratchpad/deck/assets/ic-forum.png">    </p:cNvPr>
          <p:cNvPicPr>
            <a:picLocks noChangeAspect="1"/>
          </p:cNvPicPr>
          <p:nvPr/>
        </p:nvPicPr>
        <p:blipFill>
          <a:blip r:embed="rId4"/>
          <a:stretch>
            <a:fillRect/>
          </a:stretch>
        </p:blipFill>
        <p:spPr>
          <a:xfrm>
            <a:off x="8396021" y="2359152"/>
            <a:ext cx="384048" cy="384048"/>
          </a:xfrm>
          <a:prstGeom prst="rect">
            <a:avLst/>
          </a:prstGeom>
        </p:spPr>
      </p:pic>
      <p:sp>
        <p:nvSpPr>
          <p:cNvPr id="15" name="Text 10"/>
          <p:cNvSpPr txBox="1"/>
          <p:nvPr/>
        </p:nvSpPr>
        <p:spPr>
          <a:xfrm>
            <a:off x="8396021" y="2907792"/>
            <a:ext cx="3009290" cy="384048"/>
          </a:xfrm>
          <a:prstGeom prst="rect">
            <a:avLst/>
          </a:prstGeom>
          <a:noFill/>
          <a:ln/>
        </p:spPr>
        <p:txBody>
          <a:bodyPr wrap="square" lIns="0" tIns="0" rIns="0" bIns="0" rtlCol="0" anchor="ctr"/>
          <a:lstStyle/>
          <a:p>
            <a:pPr indent="0" marL="0">
              <a:buNone/>
            </a:pPr>
            <a:r>
              <a:rPr lang="en-US" sz="1550" b="1" dirty="0">
                <a:solidFill>
                  <a:srgbClr val="E6F6F4"/>
                </a:solidFill>
                <a:latin typeface="Arial" pitchFamily="34" charset="0"/>
                <a:ea typeface="Arial" pitchFamily="34" charset="-122"/>
                <a:cs typeface="Arial" pitchFamily="34" charset="-120"/>
              </a:rPr>
              <a:t>Forum</a:t>
            </a:r>
            <a:endParaRPr lang="en-US" sz="1550" dirty="0"/>
          </a:p>
        </p:txBody>
      </p:sp>
      <p:sp>
        <p:nvSpPr>
          <p:cNvPr id="16" name="Text 11"/>
          <p:cNvSpPr txBox="1"/>
          <p:nvPr/>
        </p:nvSpPr>
        <p:spPr>
          <a:xfrm>
            <a:off x="8396021" y="3182112"/>
            <a:ext cx="3009290" cy="758952"/>
          </a:xfrm>
          <a:prstGeom prst="rect">
            <a:avLst/>
          </a:prstGeom>
          <a:noFill/>
          <a:ln/>
        </p:spPr>
        <p:txBody>
          <a:bodyPr wrap="square" lIns="0" tIns="0" rIns="0" bIns="0" rtlCol="0" anchor="t"/>
          <a:lstStyle/>
          <a:p>
            <a:pPr indent="0" marL="0">
              <a:lnSpc>
                <a:spcPts val="1300"/>
              </a:lnSpc>
              <a:buNone/>
            </a:pPr>
            <a:r>
              <a:rPr lang="en-US" sz="1050" dirty="0">
                <a:solidFill>
                  <a:srgbClr val="8FB4B4"/>
                </a:solidFill>
                <a:latin typeface="Arial" pitchFamily="34" charset="0"/>
                <a:ea typeface="Arial" pitchFamily="34" charset="-122"/>
                <a:cs typeface="Arial" pitchFamily="34" charset="-120"/>
              </a:rPr>
              <a:t>A Firestore-backed space for students to help each other.</a:t>
            </a:r>
            <a:endParaRPr lang="en-US" sz="1050" dirty="0"/>
          </a:p>
        </p:txBody>
      </p:sp>
      <p:sp>
        <p:nvSpPr>
          <p:cNvPr id="17" name="Shape 12"/>
          <p:cNvSpPr/>
          <p:nvPr/>
        </p:nvSpPr>
        <p:spPr>
          <a:xfrm>
            <a:off x="566928" y="4370832"/>
            <a:ext cx="3466490" cy="1993392"/>
          </a:xfrm>
          <a:prstGeom prst="roundRect">
            <a:avLst>
              <a:gd name="adj" fmla="val 5046"/>
            </a:avLst>
          </a:prstGeom>
          <a:solidFill>
            <a:srgbClr val="0E2A36">
              <a:alpha val="90000"/>
            </a:srgbClr>
          </a:solidFill>
          <a:ln w="12700">
            <a:solidFill>
              <a:srgbClr val="245A63"/>
            </a:solidFill>
            <a:prstDash val="solid"/>
          </a:ln>
        </p:spPr>
      </p:sp>
      <p:pic>
        <p:nvPicPr>
          <p:cNvPr id="18" name="Image 3" descr="/private/tmp/claude-502/-Users-keshavkarthik-Downloads-digital-expo-/4725727b-8639-429e-86c6-a78454e31f2a/scratchpad/deck/assets/ic-leaderboard.png">    </p:cNvPr>
          <p:cNvPicPr>
            <a:picLocks noChangeAspect="1"/>
          </p:cNvPicPr>
          <p:nvPr/>
        </p:nvPicPr>
        <p:blipFill>
          <a:blip r:embed="rId5"/>
          <a:stretch>
            <a:fillRect/>
          </a:stretch>
        </p:blipFill>
        <p:spPr>
          <a:xfrm>
            <a:off x="804672" y="4608576"/>
            <a:ext cx="384048" cy="384048"/>
          </a:xfrm>
          <a:prstGeom prst="rect">
            <a:avLst/>
          </a:prstGeom>
        </p:spPr>
      </p:pic>
      <p:sp>
        <p:nvSpPr>
          <p:cNvPr id="19" name="Text 13"/>
          <p:cNvSpPr txBox="1"/>
          <p:nvPr/>
        </p:nvSpPr>
        <p:spPr>
          <a:xfrm>
            <a:off x="804672" y="5157216"/>
            <a:ext cx="3009290" cy="384048"/>
          </a:xfrm>
          <a:prstGeom prst="rect">
            <a:avLst/>
          </a:prstGeom>
          <a:noFill/>
          <a:ln/>
        </p:spPr>
        <p:txBody>
          <a:bodyPr wrap="square" lIns="0" tIns="0" rIns="0" bIns="0" rtlCol="0" anchor="ctr"/>
          <a:lstStyle/>
          <a:p>
            <a:pPr indent="0" marL="0">
              <a:buNone/>
            </a:pPr>
            <a:r>
              <a:rPr lang="en-US" sz="1550" b="1" dirty="0">
                <a:solidFill>
                  <a:srgbClr val="E6F6F4"/>
                </a:solidFill>
                <a:latin typeface="Arial" pitchFamily="34" charset="0"/>
                <a:ea typeface="Arial" pitchFamily="34" charset="-122"/>
                <a:cs typeface="Arial" pitchFamily="34" charset="-120"/>
              </a:rPr>
              <a:t>Leaderboard</a:t>
            </a:r>
            <a:endParaRPr lang="en-US" sz="1550" dirty="0"/>
          </a:p>
        </p:txBody>
      </p:sp>
      <p:sp>
        <p:nvSpPr>
          <p:cNvPr id="20" name="Text 14"/>
          <p:cNvSpPr txBox="1"/>
          <p:nvPr/>
        </p:nvSpPr>
        <p:spPr>
          <a:xfrm>
            <a:off x="804672" y="5431536"/>
            <a:ext cx="3009290" cy="758952"/>
          </a:xfrm>
          <a:prstGeom prst="rect">
            <a:avLst/>
          </a:prstGeom>
          <a:noFill/>
          <a:ln/>
        </p:spPr>
        <p:txBody>
          <a:bodyPr wrap="square" lIns="0" tIns="0" rIns="0" bIns="0" rtlCol="0" anchor="t"/>
          <a:lstStyle/>
          <a:p>
            <a:pPr indent="0" marL="0">
              <a:lnSpc>
                <a:spcPts val="1300"/>
              </a:lnSpc>
              <a:buNone/>
            </a:pPr>
            <a:r>
              <a:rPr lang="en-US" sz="1050" dirty="0">
                <a:solidFill>
                  <a:srgbClr val="8FB4B4"/>
                </a:solidFill>
                <a:latin typeface="Arial" pitchFamily="34" charset="0"/>
                <a:ea typeface="Arial" pitchFamily="34" charset="-122"/>
                <a:cs typeface="Arial" pitchFamily="34" charset="-120"/>
              </a:rPr>
              <a:t>Friendly competition to keep motivation up.</a:t>
            </a:r>
            <a:endParaRPr lang="en-US" sz="1050" dirty="0"/>
          </a:p>
        </p:txBody>
      </p:sp>
      <p:sp>
        <p:nvSpPr>
          <p:cNvPr id="21" name="Shape 15"/>
          <p:cNvSpPr/>
          <p:nvPr/>
        </p:nvSpPr>
        <p:spPr>
          <a:xfrm>
            <a:off x="4362602" y="4370832"/>
            <a:ext cx="3466490" cy="1993392"/>
          </a:xfrm>
          <a:prstGeom prst="roundRect">
            <a:avLst>
              <a:gd name="adj" fmla="val 5046"/>
            </a:avLst>
          </a:prstGeom>
          <a:solidFill>
            <a:srgbClr val="0E2A36">
              <a:alpha val="90000"/>
            </a:srgbClr>
          </a:solidFill>
          <a:ln w="12700">
            <a:solidFill>
              <a:srgbClr val="245A63"/>
            </a:solidFill>
            <a:prstDash val="solid"/>
          </a:ln>
        </p:spPr>
      </p:sp>
      <p:pic>
        <p:nvPicPr>
          <p:cNvPr id="22" name="Image 4" descr="/private/tmp/claude-502/-Users-keshavkarthik-Downloads-digital-expo-/4725727b-8639-429e-86c6-a78454e31f2a/scratchpad/deck/assets/ic-games.png">    </p:cNvPr>
          <p:cNvPicPr>
            <a:picLocks noChangeAspect="1"/>
          </p:cNvPicPr>
          <p:nvPr/>
        </p:nvPicPr>
        <p:blipFill>
          <a:blip r:embed="rId6"/>
          <a:stretch>
            <a:fillRect/>
          </a:stretch>
        </p:blipFill>
        <p:spPr>
          <a:xfrm>
            <a:off x="4600346" y="4608576"/>
            <a:ext cx="384048" cy="384048"/>
          </a:xfrm>
          <a:prstGeom prst="rect">
            <a:avLst/>
          </a:prstGeom>
        </p:spPr>
      </p:pic>
      <p:sp>
        <p:nvSpPr>
          <p:cNvPr id="23" name="Text 16"/>
          <p:cNvSpPr txBox="1"/>
          <p:nvPr/>
        </p:nvSpPr>
        <p:spPr>
          <a:xfrm>
            <a:off x="4600346" y="5157216"/>
            <a:ext cx="3009290" cy="384048"/>
          </a:xfrm>
          <a:prstGeom prst="rect">
            <a:avLst/>
          </a:prstGeom>
          <a:noFill/>
          <a:ln/>
        </p:spPr>
        <p:txBody>
          <a:bodyPr wrap="square" lIns="0" tIns="0" rIns="0" bIns="0" rtlCol="0" anchor="ctr"/>
          <a:lstStyle/>
          <a:p>
            <a:pPr indent="0" marL="0">
              <a:buNone/>
            </a:pPr>
            <a:r>
              <a:rPr lang="en-US" sz="1550" b="1" dirty="0">
                <a:solidFill>
                  <a:srgbClr val="E6F6F4"/>
                </a:solidFill>
                <a:latin typeface="Arial" pitchFamily="34" charset="0"/>
                <a:ea typeface="Arial" pitchFamily="34" charset="-122"/>
                <a:cs typeface="Arial" pitchFamily="34" charset="-120"/>
              </a:rPr>
              <a:t>9 Built-in Games</a:t>
            </a:r>
            <a:endParaRPr lang="en-US" sz="1550" dirty="0"/>
          </a:p>
        </p:txBody>
      </p:sp>
      <p:sp>
        <p:nvSpPr>
          <p:cNvPr id="24" name="Text 17"/>
          <p:cNvSpPr txBox="1"/>
          <p:nvPr/>
        </p:nvSpPr>
        <p:spPr>
          <a:xfrm>
            <a:off x="4600346" y="5431536"/>
            <a:ext cx="3009290" cy="758952"/>
          </a:xfrm>
          <a:prstGeom prst="rect">
            <a:avLst/>
          </a:prstGeom>
          <a:noFill/>
          <a:ln/>
        </p:spPr>
        <p:txBody>
          <a:bodyPr wrap="square" lIns="0" tIns="0" rIns="0" bIns="0" rtlCol="0" anchor="t"/>
          <a:lstStyle/>
          <a:p>
            <a:pPr indent="0" marL="0">
              <a:lnSpc>
                <a:spcPts val="1300"/>
              </a:lnSpc>
              <a:buNone/>
            </a:pPr>
            <a:r>
              <a:rPr lang="en-US" sz="1050" dirty="0">
                <a:solidFill>
                  <a:srgbClr val="8FB4B4"/>
                </a:solidFill>
                <a:latin typeface="Arial" pitchFamily="34" charset="0"/>
                <a:ea typeface="Arial" pitchFamily="34" charset="-122"/>
                <a:cs typeface="Arial" pitchFamily="34" charset="-120"/>
              </a:rPr>
              <a:t>Sudoku and more, for quick study breaks.</a:t>
            </a:r>
            <a:endParaRPr lang="en-US" sz="1050" dirty="0"/>
          </a:p>
        </p:txBody>
      </p:sp>
      <p:sp>
        <p:nvSpPr>
          <p:cNvPr id="25" name="Shape 18"/>
          <p:cNvSpPr/>
          <p:nvPr/>
        </p:nvSpPr>
        <p:spPr>
          <a:xfrm>
            <a:off x="8158277" y="4370832"/>
            <a:ext cx="3466490" cy="1993392"/>
          </a:xfrm>
          <a:prstGeom prst="roundRect">
            <a:avLst>
              <a:gd name="adj" fmla="val 5046"/>
            </a:avLst>
          </a:prstGeom>
          <a:solidFill>
            <a:srgbClr val="0E2A36">
              <a:alpha val="90000"/>
            </a:srgbClr>
          </a:solidFill>
          <a:ln w="19050">
            <a:solidFill>
              <a:srgbClr val="00D4AA"/>
            </a:solidFill>
            <a:prstDash val="solid"/>
          </a:ln>
        </p:spPr>
      </p:sp>
      <p:pic>
        <p:nvPicPr>
          <p:cNvPr id="26" name="Image 5" descr="/private/tmp/claude-502/-Users-keshavkarthik-Downloads-digital-expo-/4725727b-8639-429e-86c6-a78454e31f2a/scratchpad/deck/assets/ic-shield.png">    </p:cNvPr>
          <p:cNvPicPr>
            <a:picLocks noChangeAspect="1"/>
          </p:cNvPicPr>
          <p:nvPr/>
        </p:nvPicPr>
        <p:blipFill>
          <a:blip r:embed="rId7"/>
          <a:stretch>
            <a:fillRect/>
          </a:stretch>
        </p:blipFill>
        <p:spPr>
          <a:xfrm>
            <a:off x="8396021" y="4608576"/>
            <a:ext cx="384048" cy="384048"/>
          </a:xfrm>
          <a:prstGeom prst="rect">
            <a:avLst/>
          </a:prstGeom>
        </p:spPr>
      </p:pic>
      <p:sp>
        <p:nvSpPr>
          <p:cNvPr id="27" name="Text 19"/>
          <p:cNvSpPr txBox="1"/>
          <p:nvPr/>
        </p:nvSpPr>
        <p:spPr>
          <a:xfrm>
            <a:off x="8396021" y="5157216"/>
            <a:ext cx="3009290" cy="384048"/>
          </a:xfrm>
          <a:prstGeom prst="rect">
            <a:avLst/>
          </a:prstGeom>
          <a:noFill/>
          <a:ln/>
        </p:spPr>
        <p:txBody>
          <a:bodyPr wrap="square" lIns="0" tIns="0" rIns="0" bIns="0" rtlCol="0" anchor="ctr"/>
          <a:lstStyle/>
          <a:p>
            <a:pPr indent="0" marL="0">
              <a:buNone/>
            </a:pPr>
            <a:r>
              <a:rPr lang="en-US" sz="1550" b="1" dirty="0">
                <a:solidFill>
                  <a:srgbClr val="E6F6F4"/>
                </a:solidFill>
                <a:latin typeface="Arial" pitchFamily="34" charset="0"/>
                <a:ea typeface="Arial" pitchFamily="34" charset="-122"/>
                <a:cs typeface="Arial" pitchFamily="34" charset="-120"/>
              </a:rPr>
              <a:t>Guardian Alerts</a:t>
            </a:r>
            <a:endParaRPr lang="en-US" sz="1550" dirty="0"/>
          </a:p>
        </p:txBody>
      </p:sp>
      <p:sp>
        <p:nvSpPr>
          <p:cNvPr id="28" name="Text 20"/>
          <p:cNvSpPr txBox="1"/>
          <p:nvPr/>
        </p:nvSpPr>
        <p:spPr>
          <a:xfrm>
            <a:off x="8396021" y="5431536"/>
            <a:ext cx="3009290" cy="758952"/>
          </a:xfrm>
          <a:prstGeom prst="rect">
            <a:avLst/>
          </a:prstGeom>
          <a:noFill/>
          <a:ln/>
        </p:spPr>
        <p:txBody>
          <a:bodyPr wrap="square" lIns="0" tIns="0" rIns="0" bIns="0" rtlCol="0" anchor="t"/>
          <a:lstStyle/>
          <a:p>
            <a:pPr indent="0" marL="0">
              <a:lnSpc>
                <a:spcPts val="1300"/>
              </a:lnSpc>
              <a:buNone/>
            </a:pPr>
            <a:r>
              <a:rPr lang="en-US" sz="1050" dirty="0">
                <a:solidFill>
                  <a:srgbClr val="8FB4B4"/>
                </a:solidFill>
                <a:latin typeface="Arial" pitchFamily="34" charset="0"/>
                <a:ea typeface="Arial" pitchFamily="34" charset="-122"/>
                <a:cs typeface="Arial" pitchFamily="34" charset="-120"/>
              </a:rPr>
              <a:t>If the Companion detects self-harm or serious distress, a guardian is alerted — the student is told first, with crisis resources shown.</a:t>
            </a:r>
            <a:endParaRPr lang="en-US" sz="1050" dirty="0"/>
          </a:p>
        </p:txBody>
      </p:sp>
      <p:sp>
        <p:nvSpPr>
          <p:cNvPr id="29" name="Text 21"/>
          <p:cNvSpPr txBox="1"/>
          <p:nvPr/>
        </p:nvSpPr>
        <p:spPr>
          <a:xfrm>
            <a:off x="1080976" y="6400800"/>
            <a:ext cx="914400" cy="274320"/>
          </a:xfrm>
          <a:prstGeom prst="rect">
            <a:avLst/>
          </a:prstGeom>
          <a:noFill/>
          <a:ln/>
        </p:spPr>
        <p:txBody>
          <a:bodyPr wrap="square" lIns="0" tIns="0" rIns="0" bIns="0" rtlCol="0" anchor="ctr"/>
          <a:lstStyle/>
          <a:p>
            <a:pPr indent="0" marL="0">
              <a:buNone/>
            </a:pPr>
            <a:r>
              <a:rPr lang="en-US" sz="1100" dirty="0">
                <a:solidFill>
                  <a:srgbClr val="8FB4B4"/>
                </a:solidFill>
                <a:latin typeface="Courier New" pitchFamily="34" charset="0"/>
                <a:ea typeface="Courier New" pitchFamily="34" charset="-122"/>
                <a:cs typeface="Courier New" pitchFamily="34" charset="-120"/>
              </a:rPr>
              <a:t>03</a:t>
            </a:r>
            <a:endParaRPr lang="en-US" sz="1100" dirty="0"/>
          </a:p>
        </p:txBody>
      </p:sp>
      <p:pic>
        <p:nvPicPr>
          <p:cNvPr id="30" name="Image 6" descr="/private/tmp/claude-502/-Users-keshavkarthik-Downloads-digital-expo-/4725727b-8639-429e-86c6-a78454e31f2a/scratchpad/deck/assets/logo.png">    </p:cNvPr>
          <p:cNvPicPr>
            <a:picLocks noChangeAspect="1"/>
          </p:cNvPicPr>
          <p:nvPr/>
        </p:nvPicPr>
        <p:blipFill>
          <a:blip r:embed="rId8">
            <a:alphaModFix amt="85000"/>
          </a:blip>
          <a:stretch>
            <a:fillRect/>
          </a:stretch>
        </p:blipFill>
        <p:spPr>
          <a:xfrm>
            <a:off x="11240719" y="6291072"/>
            <a:ext cx="384048" cy="384048"/>
          </a:xfrm>
          <a:prstGeom prst="rect">
            <a:avLst/>
          </a:prstGeom>
        </p:spPr>
      </p:pic>
      <p:pic>
        <p:nvPicPr>
          <p:cNvPr id="31" name="Picture 30" descr="maz_logo_small.png"/>
          <p:cNvPicPr>
            <a:picLocks noChangeAspect="1"/>
          </p:cNvPicPr>
          <p:nvPr/>
        </p:nvPicPr>
        <p:blipFill>
          <a:blip r:embed="rId11"/>
          <a:stretch>
            <a:fillRect/>
          </a:stretch>
        </p:blipFill>
        <p:spPr>
          <a:xfrm>
            <a:off x="566928" y="6291072"/>
            <a:ext cx="384048" cy="37503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 y="475488"/>
            <a:ext cx="8229600" cy="292608"/>
          </a:xfrm>
          <a:prstGeom prst="rect">
            <a:avLst/>
          </a:prstGeom>
          <a:noFill/>
          <a:ln/>
        </p:spPr>
        <p:txBody>
          <a:bodyPr wrap="square" lIns="0" tIns="0" rIns="0" bIns="0" rtlCol="0" anchor="ctr"/>
          <a:lstStyle/>
          <a:p>
            <a:pPr indent="0" marL="0">
              <a:buNone/>
            </a:pPr>
            <a:r>
              <a:rPr lang="en-US" sz="1200" spc="300" kern="0" dirty="0">
                <a:solidFill>
                  <a:srgbClr val="00D4AA"/>
                </a:solidFill>
                <a:latin typeface="Courier New" pitchFamily="34" charset="0"/>
                <a:ea typeface="Courier New" pitchFamily="34" charset="-122"/>
                <a:cs typeface="Courier New" pitchFamily="34" charset="-120"/>
              </a:rPr>
              <a:t>MAKE IT YOURS</a:t>
            </a:r>
            <a:endParaRPr lang="en-US" sz="1200" dirty="0"/>
          </a:p>
        </p:txBody>
      </p:sp>
      <p:sp>
        <p:nvSpPr>
          <p:cNvPr id="3" name="Text 1"/>
          <p:cNvSpPr txBox="1"/>
          <p:nvPr/>
        </p:nvSpPr>
        <p:spPr>
          <a:xfrm>
            <a:off x="566928" y="822960"/>
            <a:ext cx="11057839" cy="868680"/>
          </a:xfrm>
          <a:prstGeom prst="rect">
            <a:avLst/>
          </a:prstGeom>
          <a:noFill/>
          <a:ln/>
        </p:spPr>
        <p:txBody>
          <a:bodyPr wrap="square" lIns="0" tIns="0" rIns="0" bIns="0" rtlCol="0" anchor="ctr"/>
          <a:lstStyle/>
          <a:p>
            <a:pPr indent="0" marL="0">
              <a:buNone/>
            </a:pPr>
            <a:r>
              <a:rPr lang="en-US" sz="3800" b="1" dirty="0">
                <a:solidFill>
                  <a:srgbClr val="E6F6F4"/>
                </a:solidFill>
                <a:latin typeface="Arial" pitchFamily="34" charset="0"/>
                <a:ea typeface="Arial" pitchFamily="34" charset="-122"/>
                <a:cs typeface="Arial" pitchFamily="34" charset="-120"/>
              </a:rPr>
              <a:t>Create &amp; Personalize</a:t>
            </a:r>
            <a:endParaRPr lang="en-US" sz="3800" dirty="0"/>
          </a:p>
        </p:txBody>
      </p:sp>
      <p:sp>
        <p:nvSpPr>
          <p:cNvPr id="4" name="Text 2"/>
          <p:cNvSpPr txBox="1"/>
          <p:nvPr/>
        </p:nvSpPr>
        <p:spPr>
          <a:xfrm>
            <a:off x="566928" y="1645920"/>
            <a:ext cx="11057839" cy="457200"/>
          </a:xfrm>
          <a:prstGeom prst="rect">
            <a:avLst/>
          </a:prstGeom>
          <a:noFill/>
          <a:ln/>
        </p:spPr>
        <p:txBody>
          <a:bodyPr wrap="square" lIns="0" tIns="0" rIns="0" bIns="0" rtlCol="0" anchor="t"/>
          <a:lstStyle/>
          <a:p>
            <a:pPr indent="0" marL="0">
              <a:buNone/>
            </a:pPr>
            <a:r>
              <a:rPr lang="en-US" sz="1400" dirty="0">
                <a:solidFill>
                  <a:srgbClr val="8FB4B4"/>
                </a:solidFill>
                <a:latin typeface="Arial" pitchFamily="34" charset="0"/>
                <a:ea typeface="Arial" pitchFamily="34" charset="-122"/>
                <a:cs typeface="Arial" pitchFamily="34" charset="-120"/>
              </a:rPr>
              <a:t>Creative tools and a visual identity students can shape themselves.</a:t>
            </a:r>
            <a:endParaRPr lang="en-US" sz="1400" dirty="0"/>
          </a:p>
        </p:txBody>
      </p:sp>
      <p:sp>
        <p:nvSpPr>
          <p:cNvPr id="5" name="Shape 3"/>
          <p:cNvSpPr/>
          <p:nvPr/>
        </p:nvSpPr>
        <p:spPr>
          <a:xfrm>
            <a:off x="566928" y="2286000"/>
            <a:ext cx="2572436" cy="2148840"/>
          </a:xfrm>
          <a:prstGeom prst="roundRect">
            <a:avLst>
              <a:gd name="adj" fmla="val 4681"/>
            </a:avLst>
          </a:prstGeom>
          <a:solidFill>
            <a:srgbClr val="0E2A36">
              <a:alpha val="90000"/>
            </a:srgbClr>
          </a:solidFill>
          <a:ln w="12700">
            <a:solidFill>
              <a:srgbClr val="245A63"/>
            </a:solidFill>
            <a:prstDash val="solid"/>
          </a:ln>
        </p:spPr>
      </p:sp>
      <p:pic>
        <p:nvPicPr>
          <p:cNvPr id="6" name="Image 0" descr="/private/tmp/claude-502/-Users-keshavkarthik-Downloads-digital-expo-/4725727b-8639-429e-86c6-a78454e31f2a/scratchpad/deck/assets/ic-muse.png">    </p:cNvPr>
          <p:cNvPicPr>
            <a:picLocks noChangeAspect="1"/>
          </p:cNvPicPr>
          <p:nvPr/>
        </p:nvPicPr>
        <p:blipFill>
          <a:blip r:embed="rId2"/>
          <a:stretch>
            <a:fillRect/>
          </a:stretch>
        </p:blipFill>
        <p:spPr>
          <a:xfrm>
            <a:off x="804672" y="2523744"/>
            <a:ext cx="384048" cy="384048"/>
          </a:xfrm>
          <a:prstGeom prst="rect">
            <a:avLst/>
          </a:prstGeom>
        </p:spPr>
      </p:pic>
      <p:sp>
        <p:nvSpPr>
          <p:cNvPr id="7" name="Text 4"/>
          <p:cNvSpPr txBox="1"/>
          <p:nvPr/>
        </p:nvSpPr>
        <p:spPr>
          <a:xfrm>
            <a:off x="804672" y="3072384"/>
            <a:ext cx="2115236" cy="384048"/>
          </a:xfrm>
          <a:prstGeom prst="rect">
            <a:avLst/>
          </a:prstGeom>
          <a:noFill/>
          <a:ln/>
        </p:spPr>
        <p:txBody>
          <a:bodyPr wrap="square" lIns="0" tIns="0" rIns="0" bIns="0" rtlCol="0" anchor="ctr"/>
          <a:lstStyle/>
          <a:p>
            <a:pPr indent="0" marL="0">
              <a:buNone/>
            </a:pPr>
            <a:r>
              <a:rPr lang="en-US" sz="1550" b="1" dirty="0">
                <a:solidFill>
                  <a:srgbClr val="E6F6F4"/>
                </a:solidFill>
                <a:latin typeface="Arial" pitchFamily="34" charset="0"/>
                <a:ea typeface="Arial" pitchFamily="34" charset="-122"/>
                <a:cs typeface="Arial" pitchFamily="34" charset="-120"/>
              </a:rPr>
              <a:t>Muse</a:t>
            </a:r>
            <a:endParaRPr lang="en-US" sz="1550" dirty="0"/>
          </a:p>
        </p:txBody>
      </p:sp>
      <p:sp>
        <p:nvSpPr>
          <p:cNvPr id="8" name="Text 5"/>
          <p:cNvSpPr txBox="1"/>
          <p:nvPr/>
        </p:nvSpPr>
        <p:spPr>
          <a:xfrm>
            <a:off x="804672" y="3346704"/>
            <a:ext cx="2115236" cy="914400"/>
          </a:xfrm>
          <a:prstGeom prst="rect">
            <a:avLst/>
          </a:prstGeom>
          <a:noFill/>
          <a:ln/>
        </p:spPr>
        <p:txBody>
          <a:bodyPr wrap="square" lIns="0" tIns="0" rIns="0" bIns="0" rtlCol="0" anchor="t"/>
          <a:lstStyle/>
          <a:p>
            <a:pPr indent="0" marL="0">
              <a:lnSpc>
                <a:spcPts val="1300"/>
              </a:lnSpc>
              <a:buNone/>
            </a:pPr>
            <a:r>
              <a:rPr lang="en-US" sz="1050" dirty="0">
                <a:solidFill>
                  <a:srgbClr val="8FB4B4"/>
                </a:solidFill>
                <a:latin typeface="Arial" pitchFamily="34" charset="0"/>
                <a:ea typeface="Arial" pitchFamily="34" charset="-122"/>
                <a:cs typeface="Arial" pitchFamily="34" charset="-120"/>
              </a:rPr>
              <a:t>An AI art tool for creative expression.</a:t>
            </a:r>
            <a:endParaRPr lang="en-US" sz="1050" dirty="0"/>
          </a:p>
        </p:txBody>
      </p:sp>
      <p:sp>
        <p:nvSpPr>
          <p:cNvPr id="9" name="Shape 6"/>
          <p:cNvSpPr/>
          <p:nvPr/>
        </p:nvSpPr>
        <p:spPr>
          <a:xfrm>
            <a:off x="3395396" y="2286000"/>
            <a:ext cx="2572436" cy="2148840"/>
          </a:xfrm>
          <a:prstGeom prst="roundRect">
            <a:avLst>
              <a:gd name="adj" fmla="val 4681"/>
            </a:avLst>
          </a:prstGeom>
          <a:solidFill>
            <a:srgbClr val="0E2A36">
              <a:alpha val="90000"/>
            </a:srgbClr>
          </a:solidFill>
          <a:ln w="12700">
            <a:solidFill>
              <a:srgbClr val="245A63"/>
            </a:solidFill>
            <a:prstDash val="solid"/>
          </a:ln>
        </p:spPr>
      </p:sp>
      <p:pic>
        <p:nvPicPr>
          <p:cNvPr id="10" name="Image 1" descr="/private/tmp/claude-502/-Users-keshavkarthik-Downloads-digital-expo-/4725727b-8639-429e-86c6-a78454e31f2a/scratchpad/deck/assets/ic-vault.png">    </p:cNvPr>
          <p:cNvPicPr>
            <a:picLocks noChangeAspect="1"/>
          </p:cNvPicPr>
          <p:nvPr/>
        </p:nvPicPr>
        <p:blipFill>
          <a:blip r:embed="rId3"/>
          <a:stretch>
            <a:fillRect/>
          </a:stretch>
        </p:blipFill>
        <p:spPr>
          <a:xfrm>
            <a:off x="3633140" y="2523744"/>
            <a:ext cx="384048" cy="384048"/>
          </a:xfrm>
          <a:prstGeom prst="rect">
            <a:avLst/>
          </a:prstGeom>
        </p:spPr>
      </p:pic>
      <p:sp>
        <p:nvSpPr>
          <p:cNvPr id="11" name="Text 7"/>
          <p:cNvSpPr txBox="1"/>
          <p:nvPr/>
        </p:nvSpPr>
        <p:spPr>
          <a:xfrm>
            <a:off x="3633140" y="3072384"/>
            <a:ext cx="2115236" cy="384048"/>
          </a:xfrm>
          <a:prstGeom prst="rect">
            <a:avLst/>
          </a:prstGeom>
          <a:noFill/>
          <a:ln/>
        </p:spPr>
        <p:txBody>
          <a:bodyPr wrap="square" lIns="0" tIns="0" rIns="0" bIns="0" rtlCol="0" anchor="ctr"/>
          <a:lstStyle/>
          <a:p>
            <a:pPr indent="0" marL="0">
              <a:buNone/>
            </a:pPr>
            <a:r>
              <a:rPr lang="en-US" sz="1550" b="1" dirty="0">
                <a:solidFill>
                  <a:srgbClr val="E6F6F4"/>
                </a:solidFill>
                <a:latin typeface="Arial" pitchFamily="34" charset="0"/>
                <a:ea typeface="Arial" pitchFamily="34" charset="-122"/>
                <a:cs typeface="Arial" pitchFamily="34" charset="-120"/>
              </a:rPr>
              <a:t>Vault</a:t>
            </a:r>
            <a:endParaRPr lang="en-US" sz="1550" dirty="0"/>
          </a:p>
        </p:txBody>
      </p:sp>
      <p:sp>
        <p:nvSpPr>
          <p:cNvPr id="12" name="Text 8"/>
          <p:cNvSpPr txBox="1"/>
          <p:nvPr/>
        </p:nvSpPr>
        <p:spPr>
          <a:xfrm>
            <a:off x="3633140" y="3346704"/>
            <a:ext cx="2115236" cy="914400"/>
          </a:xfrm>
          <a:prstGeom prst="rect">
            <a:avLst/>
          </a:prstGeom>
          <a:noFill/>
          <a:ln/>
        </p:spPr>
        <p:txBody>
          <a:bodyPr wrap="square" lIns="0" tIns="0" rIns="0" bIns="0" rtlCol="0" anchor="t"/>
          <a:lstStyle/>
          <a:p>
            <a:pPr indent="0" marL="0">
              <a:lnSpc>
                <a:spcPts val="1300"/>
              </a:lnSpc>
              <a:buNone/>
            </a:pPr>
            <a:r>
              <a:rPr lang="en-US" sz="1050" dirty="0">
                <a:solidFill>
                  <a:srgbClr val="8FB4B4"/>
                </a:solidFill>
                <a:latin typeface="Arial" pitchFamily="34" charset="0"/>
                <a:ea typeface="Arial" pitchFamily="34" charset="-122"/>
                <a:cs typeface="Arial" pitchFamily="34" charset="-120"/>
              </a:rPr>
              <a:t>A private, secure space for personal files.</a:t>
            </a:r>
            <a:endParaRPr lang="en-US" sz="1050" dirty="0"/>
          </a:p>
        </p:txBody>
      </p:sp>
      <p:sp>
        <p:nvSpPr>
          <p:cNvPr id="13" name="Shape 9"/>
          <p:cNvSpPr/>
          <p:nvPr/>
        </p:nvSpPr>
        <p:spPr>
          <a:xfrm>
            <a:off x="6223864" y="2286000"/>
            <a:ext cx="2572436" cy="2148840"/>
          </a:xfrm>
          <a:prstGeom prst="roundRect">
            <a:avLst>
              <a:gd name="adj" fmla="val 4681"/>
            </a:avLst>
          </a:prstGeom>
          <a:solidFill>
            <a:srgbClr val="0E2A36">
              <a:alpha val="90000"/>
            </a:srgbClr>
          </a:solidFill>
          <a:ln w="12700">
            <a:solidFill>
              <a:srgbClr val="245A63"/>
            </a:solidFill>
            <a:prstDash val="solid"/>
          </a:ln>
        </p:spPr>
      </p:sp>
      <p:pic>
        <p:nvPicPr>
          <p:cNvPr id="14" name="Image 2" descr="/private/tmp/claude-502/-Users-keshavkarthik-Downloads-digital-expo-/4725727b-8639-429e-86c6-a78454e31f2a/scratchpad/deck/assets/ic-playlist.png">    </p:cNvPr>
          <p:cNvPicPr>
            <a:picLocks noChangeAspect="1"/>
          </p:cNvPicPr>
          <p:nvPr/>
        </p:nvPicPr>
        <p:blipFill>
          <a:blip r:embed="rId4"/>
          <a:stretch>
            <a:fillRect/>
          </a:stretch>
        </p:blipFill>
        <p:spPr>
          <a:xfrm>
            <a:off x="6461608" y="2523744"/>
            <a:ext cx="384048" cy="384048"/>
          </a:xfrm>
          <a:prstGeom prst="rect">
            <a:avLst/>
          </a:prstGeom>
        </p:spPr>
      </p:pic>
      <p:sp>
        <p:nvSpPr>
          <p:cNvPr id="15" name="Text 10"/>
          <p:cNvSpPr txBox="1"/>
          <p:nvPr/>
        </p:nvSpPr>
        <p:spPr>
          <a:xfrm>
            <a:off x="6461608" y="3072384"/>
            <a:ext cx="2115236" cy="384048"/>
          </a:xfrm>
          <a:prstGeom prst="rect">
            <a:avLst/>
          </a:prstGeom>
          <a:noFill/>
          <a:ln/>
        </p:spPr>
        <p:txBody>
          <a:bodyPr wrap="square" lIns="0" tIns="0" rIns="0" bIns="0" rtlCol="0" anchor="ctr"/>
          <a:lstStyle/>
          <a:p>
            <a:pPr indent="0" marL="0">
              <a:buNone/>
            </a:pPr>
            <a:r>
              <a:rPr lang="en-US" sz="1550" b="1" dirty="0">
                <a:solidFill>
                  <a:srgbClr val="E6F6F4"/>
                </a:solidFill>
                <a:latin typeface="Arial" pitchFamily="34" charset="0"/>
                <a:ea typeface="Arial" pitchFamily="34" charset="-122"/>
                <a:cs typeface="Arial" pitchFamily="34" charset="-120"/>
              </a:rPr>
              <a:t>Playlist Manager</a:t>
            </a:r>
            <a:endParaRPr lang="en-US" sz="1550" dirty="0"/>
          </a:p>
        </p:txBody>
      </p:sp>
      <p:sp>
        <p:nvSpPr>
          <p:cNvPr id="16" name="Text 11"/>
          <p:cNvSpPr txBox="1"/>
          <p:nvPr/>
        </p:nvSpPr>
        <p:spPr>
          <a:xfrm>
            <a:off x="6461608" y="3346704"/>
            <a:ext cx="2115236" cy="914400"/>
          </a:xfrm>
          <a:prstGeom prst="rect">
            <a:avLst/>
          </a:prstGeom>
          <a:noFill/>
          <a:ln/>
        </p:spPr>
        <p:txBody>
          <a:bodyPr wrap="square" lIns="0" tIns="0" rIns="0" bIns="0" rtlCol="0" anchor="t"/>
          <a:lstStyle/>
          <a:p>
            <a:pPr indent="0" marL="0">
              <a:lnSpc>
                <a:spcPts val="1300"/>
              </a:lnSpc>
              <a:buNone/>
            </a:pPr>
            <a:r>
              <a:rPr lang="en-US" sz="1050" dirty="0">
                <a:solidFill>
                  <a:srgbClr val="8FB4B4"/>
                </a:solidFill>
                <a:latin typeface="Arial" pitchFamily="34" charset="0"/>
                <a:ea typeface="Arial" pitchFamily="34" charset="-122"/>
                <a:cs typeface="Arial" pitchFamily="34" charset="-120"/>
              </a:rPr>
              <a:t>Spotify-based playlists for focus sessions.</a:t>
            </a:r>
            <a:endParaRPr lang="en-US" sz="1050" dirty="0"/>
          </a:p>
        </p:txBody>
      </p:sp>
      <p:sp>
        <p:nvSpPr>
          <p:cNvPr id="17" name="Shape 12"/>
          <p:cNvSpPr/>
          <p:nvPr/>
        </p:nvSpPr>
        <p:spPr>
          <a:xfrm>
            <a:off x="9052331" y="2286000"/>
            <a:ext cx="2572436" cy="2148840"/>
          </a:xfrm>
          <a:prstGeom prst="roundRect">
            <a:avLst>
              <a:gd name="adj" fmla="val 4681"/>
            </a:avLst>
          </a:prstGeom>
          <a:solidFill>
            <a:srgbClr val="0E2A36">
              <a:alpha val="90000"/>
            </a:srgbClr>
          </a:solidFill>
          <a:ln w="12700">
            <a:solidFill>
              <a:srgbClr val="245A63"/>
            </a:solidFill>
            <a:prstDash val="solid"/>
          </a:ln>
        </p:spPr>
      </p:sp>
      <p:pic>
        <p:nvPicPr>
          <p:cNvPr id="18" name="Image 3" descr="/private/tmp/claude-502/-Users-keshavkarthik-Downloads-digital-expo-/4725727b-8639-429e-86c6-a78454e31f2a/scratchpad/deck/assets/ic-themes.png">    </p:cNvPr>
          <p:cNvPicPr>
            <a:picLocks noChangeAspect="1"/>
          </p:cNvPicPr>
          <p:nvPr/>
        </p:nvPicPr>
        <p:blipFill>
          <a:blip r:embed="rId5"/>
          <a:stretch>
            <a:fillRect/>
          </a:stretch>
        </p:blipFill>
        <p:spPr>
          <a:xfrm>
            <a:off x="9290075" y="2523744"/>
            <a:ext cx="384048" cy="384048"/>
          </a:xfrm>
          <a:prstGeom prst="rect">
            <a:avLst/>
          </a:prstGeom>
        </p:spPr>
      </p:pic>
      <p:sp>
        <p:nvSpPr>
          <p:cNvPr id="19" name="Text 13"/>
          <p:cNvSpPr txBox="1"/>
          <p:nvPr/>
        </p:nvSpPr>
        <p:spPr>
          <a:xfrm>
            <a:off x="9290075" y="3072384"/>
            <a:ext cx="2115236" cy="384048"/>
          </a:xfrm>
          <a:prstGeom prst="rect">
            <a:avLst/>
          </a:prstGeom>
          <a:noFill/>
          <a:ln/>
        </p:spPr>
        <p:txBody>
          <a:bodyPr wrap="square" lIns="0" tIns="0" rIns="0" bIns="0" rtlCol="0" anchor="ctr"/>
          <a:lstStyle/>
          <a:p>
            <a:pPr indent="0" marL="0">
              <a:buNone/>
            </a:pPr>
            <a:r>
              <a:rPr lang="en-US" sz="1550" b="1" dirty="0">
                <a:solidFill>
                  <a:srgbClr val="E6F6F4"/>
                </a:solidFill>
                <a:latin typeface="Arial" pitchFamily="34" charset="0"/>
                <a:ea typeface="Arial" pitchFamily="34" charset="-122"/>
                <a:cs typeface="Arial" pitchFamily="34" charset="-120"/>
              </a:rPr>
              <a:t>Visual Themes</a:t>
            </a:r>
            <a:endParaRPr lang="en-US" sz="1550" dirty="0"/>
          </a:p>
        </p:txBody>
      </p:sp>
      <p:sp>
        <p:nvSpPr>
          <p:cNvPr id="20" name="Text 14"/>
          <p:cNvSpPr txBox="1"/>
          <p:nvPr/>
        </p:nvSpPr>
        <p:spPr>
          <a:xfrm>
            <a:off x="9290075" y="3346704"/>
            <a:ext cx="2115236" cy="914400"/>
          </a:xfrm>
          <a:prstGeom prst="rect">
            <a:avLst/>
          </a:prstGeom>
          <a:noFill/>
          <a:ln/>
        </p:spPr>
        <p:txBody>
          <a:bodyPr wrap="square" lIns="0" tIns="0" rIns="0" bIns="0" rtlCol="0" anchor="t"/>
          <a:lstStyle/>
          <a:p>
            <a:pPr indent="0" marL="0">
              <a:lnSpc>
                <a:spcPts val="1300"/>
              </a:lnSpc>
              <a:buNone/>
            </a:pPr>
            <a:r>
              <a:rPr lang="en-US" sz="1050" dirty="0">
                <a:solidFill>
                  <a:srgbClr val="8FB4B4"/>
                </a:solidFill>
                <a:latin typeface="Arial" pitchFamily="34" charset="0"/>
                <a:ea typeface="Arial" pitchFamily="34" charset="-122"/>
                <a:cs typeface="Arial" pitchFamily="34" charset="-120"/>
              </a:rPr>
              <a:t>Dark navy default, plus ivory, hacker, glass &amp; synthwave.</a:t>
            </a:r>
            <a:endParaRPr lang="en-US" sz="1050" dirty="0"/>
          </a:p>
        </p:txBody>
      </p:sp>
      <p:sp>
        <p:nvSpPr>
          <p:cNvPr id="21" name="Text 15"/>
          <p:cNvSpPr txBox="1"/>
          <p:nvPr/>
        </p:nvSpPr>
        <p:spPr>
          <a:xfrm>
            <a:off x="1080976" y="6400800"/>
            <a:ext cx="914400" cy="274320"/>
          </a:xfrm>
          <a:prstGeom prst="rect">
            <a:avLst/>
          </a:prstGeom>
          <a:noFill/>
          <a:ln/>
        </p:spPr>
        <p:txBody>
          <a:bodyPr wrap="square" lIns="0" tIns="0" rIns="0" bIns="0" rtlCol="0" anchor="ctr"/>
          <a:lstStyle/>
          <a:p>
            <a:pPr indent="0" marL="0">
              <a:buNone/>
            </a:pPr>
            <a:r>
              <a:rPr lang="en-US" sz="1100" dirty="0">
                <a:solidFill>
                  <a:srgbClr val="8FB4B4"/>
                </a:solidFill>
                <a:latin typeface="Courier New" pitchFamily="34" charset="0"/>
                <a:ea typeface="Courier New" pitchFamily="34" charset="-122"/>
                <a:cs typeface="Courier New" pitchFamily="34" charset="-120"/>
              </a:rPr>
              <a:t>04</a:t>
            </a:r>
            <a:endParaRPr lang="en-US" sz="1100" dirty="0"/>
          </a:p>
        </p:txBody>
      </p:sp>
      <p:pic>
        <p:nvPicPr>
          <p:cNvPr id="22" name="Image 4" descr="/private/tmp/claude-502/-Users-keshavkarthik-Downloads-digital-expo-/4725727b-8639-429e-86c6-a78454e31f2a/scratchpad/deck/assets/logo.png">    </p:cNvPr>
          <p:cNvPicPr>
            <a:picLocks noChangeAspect="1"/>
          </p:cNvPicPr>
          <p:nvPr/>
        </p:nvPicPr>
        <p:blipFill>
          <a:blip r:embed="rId6">
            <a:alphaModFix amt="85000"/>
          </a:blip>
          <a:stretch>
            <a:fillRect/>
          </a:stretch>
        </p:blipFill>
        <p:spPr>
          <a:xfrm>
            <a:off x="11240719" y="6291072"/>
            <a:ext cx="384048" cy="384048"/>
          </a:xfrm>
          <a:prstGeom prst="rect">
            <a:avLst/>
          </a:prstGeom>
        </p:spPr>
      </p:pic>
      <p:pic>
        <p:nvPicPr>
          <p:cNvPr id="23" name="Picture 22" descr="maz_logo_small.png"/>
          <p:cNvPicPr>
            <a:picLocks noChangeAspect="1"/>
          </p:cNvPicPr>
          <p:nvPr/>
        </p:nvPicPr>
        <p:blipFill>
          <a:blip r:embed="rId9"/>
          <a:stretch>
            <a:fillRect/>
          </a:stretch>
        </p:blipFill>
        <p:spPr>
          <a:xfrm>
            <a:off x="566928" y="6291072"/>
            <a:ext cx="384048" cy="37503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 y="475488"/>
            <a:ext cx="8229600" cy="292608"/>
          </a:xfrm>
          <a:prstGeom prst="rect">
            <a:avLst/>
          </a:prstGeom>
          <a:noFill/>
          <a:ln/>
        </p:spPr>
        <p:txBody>
          <a:bodyPr wrap="square" lIns="0" tIns="0" rIns="0" bIns="0" rtlCol="0" anchor="ctr"/>
          <a:lstStyle/>
          <a:p>
            <a:pPr indent="0" marL="0">
              <a:buNone/>
            </a:pPr>
            <a:r>
              <a:rPr lang="en-US" sz="1200" spc="300" kern="0" dirty="0">
                <a:solidFill>
                  <a:srgbClr val="00D4AA"/>
                </a:solidFill>
                <a:latin typeface="Courier New" pitchFamily="34" charset="0"/>
                <a:ea typeface="Courier New" pitchFamily="34" charset="-122"/>
                <a:cs typeface="Courier New" pitchFamily="34" charset="-120"/>
              </a:rPr>
              <a:t>VS OTHER STUDY APPS</a:t>
            </a:r>
            <a:endParaRPr lang="en-US" sz="1200" dirty="0"/>
          </a:p>
        </p:txBody>
      </p:sp>
      <p:sp>
        <p:nvSpPr>
          <p:cNvPr id="3" name="Text 1"/>
          <p:cNvSpPr txBox="1"/>
          <p:nvPr/>
        </p:nvSpPr>
        <p:spPr>
          <a:xfrm>
            <a:off x="566928" y="822960"/>
            <a:ext cx="11057839" cy="868680"/>
          </a:xfrm>
          <a:prstGeom prst="rect">
            <a:avLst/>
          </a:prstGeom>
          <a:noFill/>
          <a:ln/>
        </p:spPr>
        <p:txBody>
          <a:bodyPr wrap="square" lIns="0" tIns="0" rIns="0" bIns="0" rtlCol="0" anchor="ctr"/>
          <a:lstStyle/>
          <a:p>
            <a:pPr indent="0" marL="0">
              <a:buNone/>
            </a:pPr>
            <a:r>
              <a:rPr lang="en-US" sz="3800" b="1" dirty="0">
                <a:solidFill>
                  <a:srgbClr val="E6F6F4"/>
                </a:solidFill>
                <a:latin typeface="Arial" pitchFamily="34" charset="0"/>
                <a:ea typeface="Arial" pitchFamily="34" charset="-122"/>
                <a:cs typeface="Arial" pitchFamily="34" charset="-120"/>
              </a:rPr>
              <a:t>One app, or five</a:t>
            </a:r>
            <a:endParaRPr lang="en-US" sz="3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1810512"/>
          <a:ext cx="11057839" cy="914400"/>
        </p:xfrm>
        <a:graphic>
          <a:graphicData uri="http://schemas.openxmlformats.org/drawingml/2006/table">
            <a:tbl>
              <a:tblPr/>
              <a:tblGrid>
                <a:gridCol w="3200400"/>
                <a:gridCol w="1572768"/>
                <a:gridCol w="1572768"/>
                <a:gridCol w="1572768"/>
                <a:gridCol w="1572768"/>
                <a:gridCol w="1572768"/>
              </a:tblGrid>
              <a:tr h="457200">
                <a:tc>
                  <a:txBody>
                    <a:bodyPr/>
                    <a:lstStyle/>
                    <a:p>
                      <a:pPr indent="0" marL="0">
                        <a:buNone/>
                      </a:pPr>
                      <a:endParaRPr lang="en-US" sz="1200" dirty="0"/>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0A2432"/>
                    </a:solidFill>
                  </a:tcPr>
                </a:tc>
                <a:tc>
                  <a:txBody>
                    <a:bodyPr/>
                    <a:lstStyle/>
                    <a:p>
                      <a:pPr algn="ctr" indent="0" marL="0">
                        <a:buNone/>
                      </a:pPr>
                      <a:r>
                        <a:rPr lang="en-US" sz="1250" b="1" dirty="0">
                          <a:solidFill>
                            <a:srgbClr val="E6F6F4"/>
                          </a:solidFill>
                          <a:latin typeface="Arial" pitchFamily="34" charset="0"/>
                          <a:ea typeface="Arial" pitchFamily="34" charset="-122"/>
                          <a:cs typeface="Arial" pitchFamily="34" charset="-120"/>
                        </a:rPr>
                        <a:t>Quizlet</a:t>
                      </a:r>
                      <a:endParaRPr lang="en-US" sz="125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122834"/>
                    </a:solidFill>
                  </a:tcPr>
                </a:tc>
                <a:tc>
                  <a:txBody>
                    <a:bodyPr/>
                    <a:lstStyle/>
                    <a:p>
                      <a:pPr algn="ctr" indent="0" marL="0">
                        <a:buNone/>
                      </a:pPr>
                      <a:r>
                        <a:rPr lang="en-US" sz="1250" b="1" dirty="0">
                          <a:solidFill>
                            <a:srgbClr val="E6F6F4"/>
                          </a:solidFill>
                          <a:latin typeface="Arial" pitchFamily="34" charset="0"/>
                          <a:ea typeface="Arial" pitchFamily="34" charset="-122"/>
                          <a:cs typeface="Arial" pitchFamily="34" charset="-120"/>
                        </a:rPr>
                        <a:t>ChatGPT</a:t>
                      </a:r>
                      <a:endParaRPr lang="en-US" sz="125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122834"/>
                    </a:solidFill>
                  </a:tcPr>
                </a:tc>
                <a:tc>
                  <a:txBody>
                    <a:bodyPr/>
                    <a:lstStyle/>
                    <a:p>
                      <a:pPr algn="ctr" indent="0" marL="0">
                        <a:buNone/>
                      </a:pPr>
                      <a:r>
                        <a:rPr lang="en-US" sz="1250" b="1" dirty="0">
                          <a:solidFill>
                            <a:srgbClr val="E6F6F4"/>
                          </a:solidFill>
                          <a:latin typeface="Arial" pitchFamily="34" charset="0"/>
                          <a:ea typeface="Arial" pitchFamily="34" charset="-122"/>
                          <a:cs typeface="Arial" pitchFamily="34" charset="-120"/>
                        </a:rPr>
                        <a:t>Notion</a:t>
                      </a:r>
                      <a:endParaRPr lang="en-US" sz="125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122834"/>
                    </a:solidFill>
                  </a:tcPr>
                </a:tc>
                <a:tc>
                  <a:txBody>
                    <a:bodyPr/>
                    <a:lstStyle/>
                    <a:p>
                      <a:pPr algn="ctr" indent="0" marL="0">
                        <a:buNone/>
                      </a:pPr>
                      <a:r>
                        <a:rPr lang="en-US" sz="1250" b="1" dirty="0">
                          <a:solidFill>
                            <a:srgbClr val="E6F6F4"/>
                          </a:solidFill>
                          <a:latin typeface="Arial" pitchFamily="34" charset="0"/>
                          <a:ea typeface="Arial" pitchFamily="34" charset="-122"/>
                          <a:cs typeface="Arial" pitchFamily="34" charset="-120"/>
                        </a:rPr>
                        <a:t>Photomath</a:t>
                      </a:r>
                      <a:endParaRPr lang="en-US" sz="125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122834"/>
                    </a:solidFill>
                  </a:tcPr>
                </a:tc>
                <a:tc>
                  <a:txBody>
                    <a:bodyPr/>
                    <a:lstStyle/>
                    <a:p>
                      <a:pPr algn="ctr" indent="0" marL="0">
                        <a:buNone/>
                      </a:pPr>
                      <a:r>
                        <a:rPr lang="en-US" sz="1250" b="1" dirty="0">
                          <a:solidFill>
                            <a:srgbClr val="00D4AA"/>
                          </a:solidFill>
                          <a:latin typeface="Arial" pitchFamily="34" charset="0"/>
                          <a:ea typeface="Arial" pitchFamily="34" charset="-122"/>
                          <a:cs typeface="Arial" pitchFamily="34" charset="-120"/>
                        </a:rPr>
                        <a:t>Veda</a:t>
                      </a:r>
                      <a:endParaRPr lang="en-US" sz="125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0E3A34"/>
                    </a:solidFill>
                  </a:tcPr>
                </a:tc>
              </a:tr>
              <a:tr h="534924">
                <a:tc>
                  <a:txBody>
                    <a:bodyPr/>
                    <a:lstStyle/>
                    <a:p>
                      <a:pPr indent="0" marL="0">
                        <a:buNone/>
                      </a:pPr>
                      <a:r>
                        <a:rPr lang="en-US" sz="1150" b="1" dirty="0">
                          <a:solidFill>
                            <a:srgbClr val="E6F6F4"/>
                          </a:solidFill>
                          <a:latin typeface="Arial" pitchFamily="34" charset="0"/>
                          <a:ea typeface="Arial" pitchFamily="34" charset="-122"/>
                          <a:cs typeface="Arial" pitchFamily="34" charset="-120"/>
                        </a:rPr>
                        <a:t>AI homework help</a:t>
                      </a:r>
                      <a:endParaRPr lang="en-US" sz="115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0C2632"/>
                    </a:solidFill>
                  </a:tcPr>
                </a:tc>
                <a:tc>
                  <a:txBody>
                    <a:bodyPr/>
                    <a:lstStyle/>
                    <a:p>
                      <a:pPr algn="ctr" indent="0" marL="0">
                        <a:buNone/>
                      </a:pPr>
                      <a:r>
                        <a:rPr lang="en-US" sz="1600" b="1" dirty="0">
                          <a:solidFill>
                            <a:srgbClr val="FBBF24"/>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0A222E"/>
                    </a:solidFill>
                  </a:tcPr>
                </a:tc>
                <a:tc>
                  <a:txBody>
                    <a:bodyPr/>
                    <a:lstStyle/>
                    <a:p>
                      <a:pPr algn="ctr" indent="0" marL="0">
                        <a:buNone/>
                      </a:pPr>
                      <a:r>
                        <a:rPr lang="en-US" sz="1600" b="1" dirty="0">
                          <a:solidFill>
                            <a:srgbClr val="00D4AA"/>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0A222E"/>
                    </a:solidFill>
                  </a:tcPr>
                </a:tc>
                <a:tc>
                  <a:txBody>
                    <a:bodyPr/>
                    <a:lstStyle/>
                    <a:p>
                      <a:pPr algn="ctr" indent="0" marL="0">
                        <a:buNone/>
                      </a:pPr>
                      <a:r>
                        <a:rPr lang="en-US" sz="1600" b="1" dirty="0">
                          <a:solidFill>
                            <a:srgbClr val="5C7079"/>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0A222E"/>
                    </a:solidFill>
                  </a:tcPr>
                </a:tc>
                <a:tc>
                  <a:txBody>
                    <a:bodyPr/>
                    <a:lstStyle/>
                    <a:p>
                      <a:pPr algn="ctr" indent="0" marL="0">
                        <a:buNone/>
                      </a:pPr>
                      <a:r>
                        <a:rPr lang="en-US" sz="1600" b="1" dirty="0">
                          <a:solidFill>
                            <a:srgbClr val="FBBF24"/>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0A222E"/>
                    </a:solidFill>
                  </a:tcPr>
                </a:tc>
                <a:tc>
                  <a:txBody>
                    <a:bodyPr/>
                    <a:lstStyle/>
                    <a:p>
                      <a:pPr algn="ctr" indent="0" marL="0">
                        <a:buNone/>
                      </a:pPr>
                      <a:r>
                        <a:rPr lang="en-US" sz="1600" b="1" dirty="0">
                          <a:solidFill>
                            <a:srgbClr val="00D4AA"/>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0C302B"/>
                    </a:solidFill>
                  </a:tcPr>
                </a:tc>
              </a:tr>
              <a:tr h="534924">
                <a:tc>
                  <a:txBody>
                    <a:bodyPr/>
                    <a:lstStyle/>
                    <a:p>
                      <a:pPr indent="0" marL="0">
                        <a:buNone/>
                      </a:pPr>
                      <a:r>
                        <a:rPr lang="en-US" sz="1150" b="1" dirty="0">
                          <a:solidFill>
                            <a:srgbClr val="E6F6F4"/>
                          </a:solidFill>
                          <a:latin typeface="Arial" pitchFamily="34" charset="0"/>
                          <a:ea typeface="Arial" pitchFamily="34" charset="-122"/>
                          <a:cs typeface="Arial" pitchFamily="34" charset="-120"/>
                        </a:rPr>
                        <a:t>Flashcards &amp; revision</a:t>
                      </a:r>
                      <a:endParaRPr lang="en-US" sz="115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0C2632"/>
                    </a:solidFill>
                  </a:tcPr>
                </a:tc>
                <a:tc>
                  <a:txBody>
                    <a:bodyPr/>
                    <a:lstStyle/>
                    <a:p>
                      <a:pPr algn="ctr" indent="0" marL="0">
                        <a:buNone/>
                      </a:pPr>
                      <a:r>
                        <a:rPr lang="en-US" sz="1600" b="1" dirty="0">
                          <a:solidFill>
                            <a:srgbClr val="00D4AA"/>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0A222E"/>
                    </a:solidFill>
                  </a:tcPr>
                </a:tc>
                <a:tc>
                  <a:txBody>
                    <a:bodyPr/>
                    <a:lstStyle/>
                    <a:p>
                      <a:pPr algn="ctr" indent="0" marL="0">
                        <a:buNone/>
                      </a:pPr>
                      <a:r>
                        <a:rPr lang="en-US" sz="1600" b="1" dirty="0">
                          <a:solidFill>
                            <a:srgbClr val="FBBF24"/>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0A222E"/>
                    </a:solidFill>
                  </a:tcPr>
                </a:tc>
                <a:tc>
                  <a:txBody>
                    <a:bodyPr/>
                    <a:lstStyle/>
                    <a:p>
                      <a:pPr algn="ctr" indent="0" marL="0">
                        <a:buNone/>
                      </a:pPr>
                      <a:r>
                        <a:rPr lang="en-US" sz="1600" b="1" dirty="0">
                          <a:solidFill>
                            <a:srgbClr val="FBBF24"/>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0A222E"/>
                    </a:solidFill>
                  </a:tcPr>
                </a:tc>
                <a:tc>
                  <a:txBody>
                    <a:bodyPr/>
                    <a:lstStyle/>
                    <a:p>
                      <a:pPr algn="ctr" indent="0" marL="0">
                        <a:buNone/>
                      </a:pPr>
                      <a:r>
                        <a:rPr lang="en-US" sz="1600" b="1" dirty="0">
                          <a:solidFill>
                            <a:srgbClr val="5C7079"/>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0A222E"/>
                    </a:solidFill>
                  </a:tcPr>
                </a:tc>
                <a:tc>
                  <a:txBody>
                    <a:bodyPr/>
                    <a:lstStyle/>
                    <a:p>
                      <a:pPr algn="ctr" indent="0" marL="0">
                        <a:buNone/>
                      </a:pPr>
                      <a:r>
                        <a:rPr lang="en-US" sz="1600" b="1" dirty="0">
                          <a:solidFill>
                            <a:srgbClr val="00D4AA"/>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0C302B"/>
                    </a:solidFill>
                  </a:tcPr>
                </a:tc>
              </a:tr>
              <a:tr h="534924">
                <a:tc>
                  <a:txBody>
                    <a:bodyPr/>
                    <a:lstStyle/>
                    <a:p>
                      <a:pPr indent="0" marL="0">
                        <a:buNone/>
                      </a:pPr>
                      <a:r>
                        <a:rPr lang="en-US" sz="1150" b="1" dirty="0">
                          <a:solidFill>
                            <a:srgbClr val="E6F6F4"/>
                          </a:solidFill>
                          <a:latin typeface="Arial" pitchFamily="34" charset="0"/>
                          <a:ea typeface="Arial" pitchFamily="34" charset="-122"/>
                          <a:cs typeface="Arial" pitchFamily="34" charset="-120"/>
                        </a:rPr>
                        <a:t>Study planner &amp; tracking</a:t>
                      </a:r>
                      <a:endParaRPr lang="en-US" sz="115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0C2632"/>
                    </a:solidFill>
                  </a:tcPr>
                </a:tc>
                <a:tc>
                  <a:txBody>
                    <a:bodyPr/>
                    <a:lstStyle/>
                    <a:p>
                      <a:pPr algn="ctr" indent="0" marL="0">
                        <a:buNone/>
                      </a:pPr>
                      <a:r>
                        <a:rPr lang="en-US" sz="1600" b="1" dirty="0">
                          <a:solidFill>
                            <a:srgbClr val="5C7079"/>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0A222E"/>
                    </a:solidFill>
                  </a:tcPr>
                </a:tc>
                <a:tc>
                  <a:txBody>
                    <a:bodyPr/>
                    <a:lstStyle/>
                    <a:p>
                      <a:pPr algn="ctr" indent="0" marL="0">
                        <a:buNone/>
                      </a:pPr>
                      <a:r>
                        <a:rPr lang="en-US" sz="1600" b="1" dirty="0">
                          <a:solidFill>
                            <a:srgbClr val="5C7079"/>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0A222E"/>
                    </a:solidFill>
                  </a:tcPr>
                </a:tc>
                <a:tc>
                  <a:txBody>
                    <a:bodyPr/>
                    <a:lstStyle/>
                    <a:p>
                      <a:pPr algn="ctr" indent="0" marL="0">
                        <a:buNone/>
                      </a:pPr>
                      <a:r>
                        <a:rPr lang="en-US" sz="1600" b="1" dirty="0">
                          <a:solidFill>
                            <a:srgbClr val="00D4AA"/>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0A222E"/>
                    </a:solidFill>
                  </a:tcPr>
                </a:tc>
                <a:tc>
                  <a:txBody>
                    <a:bodyPr/>
                    <a:lstStyle/>
                    <a:p>
                      <a:pPr algn="ctr" indent="0" marL="0">
                        <a:buNone/>
                      </a:pPr>
                      <a:r>
                        <a:rPr lang="en-US" sz="1600" b="1" dirty="0">
                          <a:solidFill>
                            <a:srgbClr val="5C7079"/>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0A222E"/>
                    </a:solidFill>
                  </a:tcPr>
                </a:tc>
                <a:tc>
                  <a:txBody>
                    <a:bodyPr/>
                    <a:lstStyle/>
                    <a:p>
                      <a:pPr algn="ctr" indent="0" marL="0">
                        <a:buNone/>
                      </a:pPr>
                      <a:r>
                        <a:rPr lang="en-US" sz="1600" b="1" dirty="0">
                          <a:solidFill>
                            <a:srgbClr val="00D4AA"/>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0C302B"/>
                    </a:solidFill>
                  </a:tcPr>
                </a:tc>
              </a:tr>
              <a:tr h="534924">
                <a:tc>
                  <a:txBody>
                    <a:bodyPr/>
                    <a:lstStyle/>
                    <a:p>
                      <a:pPr indent="0" marL="0">
                        <a:buNone/>
                      </a:pPr>
                      <a:r>
                        <a:rPr lang="en-US" sz="1150" b="1" dirty="0">
                          <a:solidFill>
                            <a:srgbClr val="E6F6F4"/>
                          </a:solidFill>
                          <a:latin typeface="Arial" pitchFamily="34" charset="0"/>
                          <a:ea typeface="Arial" pitchFamily="34" charset="-122"/>
                          <a:cs typeface="Arial" pitchFamily="34" charset="-120"/>
                        </a:rPr>
                        <a:t>Wellbeing companion</a:t>
                      </a:r>
                      <a:endParaRPr lang="en-US" sz="115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0C2632"/>
                    </a:solidFill>
                  </a:tcPr>
                </a:tc>
                <a:tc>
                  <a:txBody>
                    <a:bodyPr/>
                    <a:lstStyle/>
                    <a:p>
                      <a:pPr algn="ctr" indent="0" marL="0">
                        <a:buNone/>
                      </a:pPr>
                      <a:r>
                        <a:rPr lang="en-US" sz="1600" b="1" dirty="0">
                          <a:solidFill>
                            <a:srgbClr val="5C7079"/>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0A222E"/>
                    </a:solidFill>
                  </a:tcPr>
                </a:tc>
                <a:tc>
                  <a:txBody>
                    <a:bodyPr/>
                    <a:lstStyle/>
                    <a:p>
                      <a:pPr algn="ctr" indent="0" marL="0">
                        <a:buNone/>
                      </a:pPr>
                      <a:r>
                        <a:rPr lang="en-US" sz="1600" b="1" dirty="0">
                          <a:solidFill>
                            <a:srgbClr val="5C7079"/>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0A222E"/>
                    </a:solidFill>
                  </a:tcPr>
                </a:tc>
                <a:tc>
                  <a:txBody>
                    <a:bodyPr/>
                    <a:lstStyle/>
                    <a:p>
                      <a:pPr algn="ctr" indent="0" marL="0">
                        <a:buNone/>
                      </a:pPr>
                      <a:r>
                        <a:rPr lang="en-US" sz="1600" b="1" dirty="0">
                          <a:solidFill>
                            <a:srgbClr val="5C7079"/>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0A222E"/>
                    </a:solidFill>
                  </a:tcPr>
                </a:tc>
                <a:tc>
                  <a:txBody>
                    <a:bodyPr/>
                    <a:lstStyle/>
                    <a:p>
                      <a:pPr algn="ctr" indent="0" marL="0">
                        <a:buNone/>
                      </a:pPr>
                      <a:r>
                        <a:rPr lang="en-US" sz="1600" b="1" dirty="0">
                          <a:solidFill>
                            <a:srgbClr val="5C7079"/>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0A222E"/>
                    </a:solidFill>
                  </a:tcPr>
                </a:tc>
                <a:tc>
                  <a:txBody>
                    <a:bodyPr/>
                    <a:lstStyle/>
                    <a:p>
                      <a:pPr algn="ctr" indent="0" marL="0">
                        <a:buNone/>
                      </a:pPr>
                      <a:r>
                        <a:rPr lang="en-US" sz="1600" b="1" dirty="0">
                          <a:solidFill>
                            <a:srgbClr val="00D4AA"/>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0C302B"/>
                    </a:solidFill>
                  </a:tcPr>
                </a:tc>
              </a:tr>
              <a:tr h="534924">
                <a:tc>
                  <a:txBody>
                    <a:bodyPr/>
                    <a:lstStyle/>
                    <a:p>
                      <a:pPr indent="0" marL="0">
                        <a:buNone/>
                      </a:pPr>
                      <a:r>
                        <a:rPr lang="en-US" sz="1150" b="1" dirty="0">
                          <a:solidFill>
                            <a:srgbClr val="E6F6F4"/>
                          </a:solidFill>
                          <a:latin typeface="Arial" pitchFamily="34" charset="0"/>
                          <a:ea typeface="Arial" pitchFamily="34" charset="-122"/>
                          <a:cs typeface="Arial" pitchFamily="34" charset="-120"/>
                        </a:rPr>
                        <a:t>Crisis / safety alerts</a:t>
                      </a:r>
                      <a:endParaRPr lang="en-US" sz="115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0C2632"/>
                    </a:solidFill>
                  </a:tcPr>
                </a:tc>
                <a:tc>
                  <a:txBody>
                    <a:bodyPr/>
                    <a:lstStyle/>
                    <a:p>
                      <a:pPr algn="ctr" indent="0" marL="0">
                        <a:buNone/>
                      </a:pPr>
                      <a:r>
                        <a:rPr lang="en-US" sz="1600" b="1" dirty="0">
                          <a:solidFill>
                            <a:srgbClr val="5C7079"/>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0A222E"/>
                    </a:solidFill>
                  </a:tcPr>
                </a:tc>
                <a:tc>
                  <a:txBody>
                    <a:bodyPr/>
                    <a:lstStyle/>
                    <a:p>
                      <a:pPr algn="ctr" indent="0" marL="0">
                        <a:buNone/>
                      </a:pPr>
                      <a:r>
                        <a:rPr lang="en-US" sz="1600" b="1" dirty="0">
                          <a:solidFill>
                            <a:srgbClr val="5C7079"/>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0A222E"/>
                    </a:solidFill>
                  </a:tcPr>
                </a:tc>
                <a:tc>
                  <a:txBody>
                    <a:bodyPr/>
                    <a:lstStyle/>
                    <a:p>
                      <a:pPr algn="ctr" indent="0" marL="0">
                        <a:buNone/>
                      </a:pPr>
                      <a:r>
                        <a:rPr lang="en-US" sz="1600" b="1" dirty="0">
                          <a:solidFill>
                            <a:srgbClr val="5C7079"/>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0A222E"/>
                    </a:solidFill>
                  </a:tcPr>
                </a:tc>
                <a:tc>
                  <a:txBody>
                    <a:bodyPr/>
                    <a:lstStyle/>
                    <a:p>
                      <a:pPr algn="ctr" indent="0" marL="0">
                        <a:buNone/>
                      </a:pPr>
                      <a:r>
                        <a:rPr lang="en-US" sz="1600" b="1" dirty="0">
                          <a:solidFill>
                            <a:srgbClr val="5C7079"/>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0A222E"/>
                    </a:solidFill>
                  </a:tcPr>
                </a:tc>
                <a:tc>
                  <a:txBody>
                    <a:bodyPr/>
                    <a:lstStyle/>
                    <a:p>
                      <a:pPr algn="ctr" indent="0" marL="0">
                        <a:buNone/>
                      </a:pPr>
                      <a:r>
                        <a:rPr lang="en-US" sz="1600" b="1" dirty="0">
                          <a:solidFill>
                            <a:srgbClr val="00D4AA"/>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0C302B"/>
                    </a:solidFill>
                  </a:tcPr>
                </a:tc>
              </a:tr>
              <a:tr h="534924">
                <a:tc>
                  <a:txBody>
                    <a:bodyPr/>
                    <a:lstStyle/>
                    <a:p>
                      <a:pPr indent="0" marL="0">
                        <a:buNone/>
                      </a:pPr>
                      <a:r>
                        <a:rPr lang="en-US" sz="1150" b="1" dirty="0">
                          <a:solidFill>
                            <a:srgbClr val="E6F6F4"/>
                          </a:solidFill>
                          <a:latin typeface="Arial" pitchFamily="34" charset="0"/>
                          <a:ea typeface="Arial" pitchFamily="34" charset="-122"/>
                          <a:cs typeface="Arial" pitchFamily="34" charset="-120"/>
                        </a:rPr>
                        <a:t>Works offline</a:t>
                      </a:r>
                      <a:endParaRPr lang="en-US" sz="115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0C2632"/>
                    </a:solidFill>
                  </a:tcPr>
                </a:tc>
                <a:tc>
                  <a:txBody>
                    <a:bodyPr/>
                    <a:lstStyle/>
                    <a:p>
                      <a:pPr algn="ctr" indent="0" marL="0">
                        <a:buNone/>
                      </a:pPr>
                      <a:r>
                        <a:rPr lang="en-US" sz="1600" b="1" dirty="0">
                          <a:solidFill>
                            <a:srgbClr val="FBBF24"/>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0A222E"/>
                    </a:solidFill>
                  </a:tcPr>
                </a:tc>
                <a:tc>
                  <a:txBody>
                    <a:bodyPr/>
                    <a:lstStyle/>
                    <a:p>
                      <a:pPr algn="ctr" indent="0" marL="0">
                        <a:buNone/>
                      </a:pPr>
                      <a:r>
                        <a:rPr lang="en-US" sz="1600" b="1" dirty="0">
                          <a:solidFill>
                            <a:srgbClr val="5C7079"/>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0A222E"/>
                    </a:solidFill>
                  </a:tcPr>
                </a:tc>
                <a:tc>
                  <a:txBody>
                    <a:bodyPr/>
                    <a:lstStyle/>
                    <a:p>
                      <a:pPr algn="ctr" indent="0" marL="0">
                        <a:buNone/>
                      </a:pPr>
                      <a:r>
                        <a:rPr lang="en-US" sz="1600" b="1" dirty="0">
                          <a:solidFill>
                            <a:srgbClr val="FBBF24"/>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0A222E"/>
                    </a:solidFill>
                  </a:tcPr>
                </a:tc>
                <a:tc>
                  <a:txBody>
                    <a:bodyPr/>
                    <a:lstStyle/>
                    <a:p>
                      <a:pPr algn="ctr" indent="0" marL="0">
                        <a:buNone/>
                      </a:pPr>
                      <a:r>
                        <a:rPr lang="en-US" sz="1600" b="1" dirty="0">
                          <a:solidFill>
                            <a:srgbClr val="FBBF24"/>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0A222E"/>
                    </a:solidFill>
                  </a:tcPr>
                </a:tc>
                <a:tc>
                  <a:txBody>
                    <a:bodyPr/>
                    <a:lstStyle/>
                    <a:p>
                      <a:pPr algn="ctr" indent="0" marL="0">
                        <a:buNone/>
                      </a:pPr>
                      <a:r>
                        <a:rPr lang="en-US" sz="1600" b="1" dirty="0">
                          <a:solidFill>
                            <a:srgbClr val="00D4AA"/>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0C302B"/>
                    </a:solidFill>
                  </a:tcPr>
                </a:tc>
              </a:tr>
              <a:tr h="534924">
                <a:tc>
                  <a:txBody>
                    <a:bodyPr/>
                    <a:lstStyle/>
                    <a:p>
                      <a:pPr indent="0" marL="0">
                        <a:buNone/>
                      </a:pPr>
                      <a:r>
                        <a:rPr lang="en-US" sz="1150" b="1" dirty="0">
                          <a:solidFill>
                            <a:srgbClr val="E6F6F4"/>
                          </a:solidFill>
                          <a:latin typeface="Arial" pitchFamily="34" charset="0"/>
                          <a:ea typeface="Arial" pitchFamily="34" charset="-122"/>
                          <a:cs typeface="Arial" pitchFamily="34" charset="-120"/>
                        </a:rPr>
                        <a:t>Free — no paywall</a:t>
                      </a:r>
                      <a:endParaRPr lang="en-US" sz="115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0C2632"/>
                    </a:solidFill>
                  </a:tcPr>
                </a:tc>
                <a:tc>
                  <a:txBody>
                    <a:bodyPr/>
                    <a:lstStyle/>
                    <a:p>
                      <a:pPr algn="ctr" indent="0" marL="0">
                        <a:buNone/>
                      </a:pPr>
                      <a:r>
                        <a:rPr lang="en-US" sz="1600" b="1" dirty="0">
                          <a:solidFill>
                            <a:srgbClr val="5C7079"/>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0A222E"/>
                    </a:solidFill>
                  </a:tcPr>
                </a:tc>
                <a:tc>
                  <a:txBody>
                    <a:bodyPr/>
                    <a:lstStyle/>
                    <a:p>
                      <a:pPr algn="ctr" indent="0" marL="0">
                        <a:buNone/>
                      </a:pPr>
                      <a:r>
                        <a:rPr lang="en-US" sz="1600" b="1" dirty="0">
                          <a:solidFill>
                            <a:srgbClr val="FBBF24"/>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0A222E"/>
                    </a:solidFill>
                  </a:tcPr>
                </a:tc>
                <a:tc>
                  <a:txBody>
                    <a:bodyPr/>
                    <a:lstStyle/>
                    <a:p>
                      <a:pPr algn="ctr" indent="0" marL="0">
                        <a:buNone/>
                      </a:pPr>
                      <a:r>
                        <a:rPr lang="en-US" sz="1600" b="1" dirty="0">
                          <a:solidFill>
                            <a:srgbClr val="FBBF24"/>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0A222E"/>
                    </a:solidFill>
                  </a:tcPr>
                </a:tc>
                <a:tc>
                  <a:txBody>
                    <a:bodyPr/>
                    <a:lstStyle/>
                    <a:p>
                      <a:pPr algn="ctr" indent="0" marL="0">
                        <a:buNone/>
                      </a:pPr>
                      <a:r>
                        <a:rPr lang="en-US" sz="1600" b="1" dirty="0">
                          <a:solidFill>
                            <a:srgbClr val="5C7079"/>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0A222E"/>
                    </a:solidFill>
                  </a:tcPr>
                </a:tc>
                <a:tc>
                  <a:txBody>
                    <a:bodyPr/>
                    <a:lstStyle/>
                    <a:p>
                      <a:pPr algn="ctr" indent="0" marL="0">
                        <a:buNone/>
                      </a:pPr>
                      <a:r>
                        <a:rPr lang="en-US" sz="1600" b="1" dirty="0">
                          <a:solidFill>
                            <a:srgbClr val="00D4AA"/>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1600" marR="101600" marT="38100" marB="38100" anchor="ctr">
                    <a:lnL w="12700" cap="flat" cmpd="sng" algn="ctr">
                      <a:solidFill>
                        <a:srgbClr val="1E4A52"/>
                      </a:solidFill>
                      <a:prstDash val="solid"/>
                      <a:round/>
                      <a:headEnd type="none" w="med" len="med"/>
                      <a:tailEnd type="none" w="med" len="med"/>
                    </a:lnL>
                    <a:lnR w="12700" cap="flat" cmpd="sng" algn="ctr">
                      <a:solidFill>
                        <a:srgbClr val="1E4A52"/>
                      </a:solidFill>
                      <a:prstDash val="solid"/>
                      <a:round/>
                      <a:headEnd type="none" w="med" len="med"/>
                      <a:tailEnd type="none" w="med" len="med"/>
                    </a:lnR>
                    <a:lnT w="12700" cap="flat" cmpd="sng" algn="ctr">
                      <a:solidFill>
                        <a:srgbClr val="1E4A52"/>
                      </a:solidFill>
                      <a:prstDash val="solid"/>
                      <a:round/>
                      <a:headEnd type="none" w="med" len="med"/>
                      <a:tailEnd type="none" w="med" len="med"/>
                    </a:lnT>
                    <a:lnB w="12700" cap="flat" cmpd="sng" algn="ctr">
                      <a:solidFill>
                        <a:srgbClr val="1E4A52"/>
                      </a:solidFill>
                      <a:prstDash val="solid"/>
                      <a:round/>
                      <a:headEnd type="none" w="med" len="med"/>
                      <a:tailEnd type="none" w="med" len="med"/>
                    </a:lnB>
                    <a:solidFill>
                      <a:srgbClr val="0C302B"/>
                    </a:solidFill>
                  </a:tcPr>
                </a:tc>
              </a:tr>
            </a:tbl>
          </a:graphicData>
        </a:graphic>
      </p:graphicFrame>
      <p:sp>
        <p:nvSpPr>
          <p:cNvPr id="5" name="Text 2"/>
          <p:cNvSpPr txBox="1"/>
          <p:nvPr/>
        </p:nvSpPr>
        <p:spPr>
          <a:xfrm>
            <a:off x="566928" y="6236208"/>
            <a:ext cx="8229600" cy="292608"/>
          </a:xfrm>
          <a:prstGeom prst="rect">
            <a:avLst/>
          </a:prstGeom>
          <a:noFill/>
          <a:ln/>
        </p:spPr>
        <p:txBody>
          <a:bodyPr wrap="square" lIns="0" tIns="0" rIns="0" bIns="0" rtlCol="0" anchor="ctr"/>
          <a:lstStyle/>
          <a:p>
            <a:pPr indent="0" marL="0">
              <a:buNone/>
            </a:pPr>
            <a:r>
              <a:rPr lang="en-US" sz="1050" b="1" dirty="0">
                <a:solidFill>
                  <a:srgbClr val="00D4AA"/>
                </a:solidFill>
                <a:latin typeface="Arial" pitchFamily="34" charset="0"/>
                <a:ea typeface="Arial" pitchFamily="34" charset="-122"/>
                <a:cs typeface="Arial" pitchFamily="34" charset="-120"/>
              </a:rPr>
              <a:t>✓ </a:t>
            </a:r>
            <a:pPr indent="0" marL="0">
              <a:buNone/>
            </a:pPr>
            <a:r>
              <a:rPr lang="en-US" sz="1050" dirty="0">
                <a:solidFill>
                  <a:srgbClr val="8FB4B4"/>
                </a:solidFill>
                <a:latin typeface="Arial" pitchFamily="34" charset="0"/>
                <a:ea typeface="Arial" pitchFamily="34" charset="-122"/>
                <a:cs typeface="Arial" pitchFamily="34" charset="-120"/>
              </a:rPr>
              <a:t>included     </a:t>
            </a:r>
            <a:pPr indent="0" marL="0">
              <a:buNone/>
            </a:pPr>
            <a:r>
              <a:rPr lang="en-US" sz="1050" b="1" dirty="0">
                <a:solidFill>
                  <a:srgbClr val="FBBF24"/>
                </a:solidFill>
                <a:latin typeface="Arial" pitchFamily="34" charset="0"/>
                <a:ea typeface="Arial" pitchFamily="34" charset="-122"/>
                <a:cs typeface="Arial" pitchFamily="34" charset="-120"/>
              </a:rPr>
              <a:t>~ </a:t>
            </a:r>
            <a:pPr indent="0" marL="0">
              <a:buNone/>
            </a:pPr>
            <a:r>
              <a:rPr lang="en-US" sz="1050" dirty="0">
                <a:solidFill>
                  <a:srgbClr val="8FB4B4"/>
                </a:solidFill>
                <a:latin typeface="Arial" pitchFamily="34" charset="0"/>
                <a:ea typeface="Arial" pitchFamily="34" charset="-122"/>
                <a:cs typeface="Arial" pitchFamily="34" charset="-120"/>
              </a:rPr>
              <a:t>limited or paid tier     </a:t>
            </a:r>
            <a:pPr indent="0" marL="0">
              <a:buNone/>
            </a:pPr>
            <a:r>
              <a:rPr lang="en-US" sz="1050" b="1" dirty="0">
                <a:solidFill>
                  <a:srgbClr val="5C7079"/>
                </a:solidFill>
                <a:latin typeface="Arial" pitchFamily="34" charset="0"/>
                <a:ea typeface="Arial" pitchFamily="34" charset="-122"/>
                <a:cs typeface="Arial" pitchFamily="34" charset="-120"/>
              </a:rPr>
              <a:t>✗ </a:t>
            </a:r>
            <a:pPr indent="0" marL="0">
              <a:buNone/>
            </a:pPr>
            <a:r>
              <a:rPr lang="en-US" sz="1050" dirty="0">
                <a:solidFill>
                  <a:srgbClr val="8FB4B4"/>
                </a:solidFill>
                <a:latin typeface="Arial" pitchFamily="34" charset="0"/>
                <a:ea typeface="Arial" pitchFamily="34" charset="-122"/>
                <a:cs typeface="Arial" pitchFamily="34" charset="-120"/>
              </a:rPr>
              <a:t>not offered</a:t>
            </a:r>
            <a:endParaRPr lang="en-US" sz="1050" dirty="0"/>
          </a:p>
        </p:txBody>
      </p:sp>
      <p:sp>
        <p:nvSpPr>
          <p:cNvPr id="6" name="Text 3"/>
          <p:cNvSpPr txBox="1"/>
          <p:nvPr/>
        </p:nvSpPr>
        <p:spPr>
          <a:xfrm>
            <a:off x="566928" y="6528816"/>
            <a:ext cx="11057839" cy="274320"/>
          </a:xfrm>
          <a:prstGeom prst="rect">
            <a:avLst/>
          </a:prstGeom>
          <a:noFill/>
          <a:ln/>
        </p:spPr>
        <p:txBody>
          <a:bodyPr wrap="square" lIns="0" tIns="0" rIns="0" bIns="0" rtlCol="0" anchor="ctr"/>
          <a:lstStyle/>
          <a:p>
            <a:pPr indent="0" marL="0">
              <a:buNone/>
            </a:pPr>
            <a:r>
              <a:rPr lang="en-US" sz="850" dirty="0">
                <a:solidFill>
                  <a:srgbClr val="5C7079"/>
                </a:solidFill>
                <a:latin typeface="Courier New" pitchFamily="34" charset="0"/>
                <a:ea typeface="Courier New" pitchFamily="34" charset="-122"/>
                <a:cs typeface="Courier New" pitchFamily="34" charset="-120"/>
              </a:rPr>
              <a:t>Comparison based on publicly available information; free tiers as of September 2026.</a:t>
            </a:r>
            <a:endParaRPr lang="en-US" sz="850" dirty="0"/>
          </a:p>
        </p:txBody>
      </p:sp>
      <p:sp>
        <p:nvSpPr>
          <p:cNvPr id="7" name="Text 4"/>
          <p:cNvSpPr txBox="1"/>
          <p:nvPr/>
        </p:nvSpPr>
        <p:spPr>
          <a:xfrm>
            <a:off x="1080976" y="6400800"/>
            <a:ext cx="914400" cy="274320"/>
          </a:xfrm>
          <a:prstGeom prst="rect">
            <a:avLst/>
          </a:prstGeom>
          <a:noFill/>
          <a:ln/>
        </p:spPr>
        <p:txBody>
          <a:bodyPr wrap="square" lIns="0" tIns="0" rIns="0" bIns="0" rtlCol="0" anchor="ctr"/>
          <a:lstStyle/>
          <a:p>
            <a:pPr indent="0" marL="0">
              <a:buNone/>
            </a:pPr>
            <a:r>
              <a:rPr lang="en-US" sz="1100" dirty="0">
                <a:solidFill>
                  <a:srgbClr val="8FB4B4"/>
                </a:solidFill>
                <a:latin typeface="Courier New" pitchFamily="34" charset="0"/>
                <a:ea typeface="Courier New" pitchFamily="34" charset="-122"/>
                <a:cs typeface="Courier New" pitchFamily="34" charset="-120"/>
              </a:rPr>
              <a:t>05</a:t>
            </a:r>
            <a:endParaRPr lang="en-US" sz="1100" dirty="0"/>
          </a:p>
        </p:txBody>
      </p:sp>
      <p:pic>
        <p:nvPicPr>
          <p:cNvPr id="8" name="Image 0" descr="/private/tmp/claude-502/-Users-keshavkarthik-Downloads-digital-expo-/4725727b-8639-429e-86c6-a78454e31f2a/scratchpad/deck/assets/logo.png">    </p:cNvPr>
          <p:cNvPicPr>
            <a:picLocks noChangeAspect="1"/>
          </p:cNvPicPr>
          <p:nvPr/>
        </p:nvPicPr>
        <p:blipFill>
          <a:blip r:embed="rId2">
            <a:alphaModFix amt="85000"/>
          </a:blip>
          <a:stretch>
            <a:fillRect/>
          </a:stretch>
        </p:blipFill>
        <p:spPr>
          <a:xfrm>
            <a:off x="11240719" y="6291072"/>
            <a:ext cx="384048" cy="384048"/>
          </a:xfrm>
          <a:prstGeom prst="rect">
            <a:avLst/>
          </a:prstGeom>
        </p:spPr>
      </p:pic>
      <p:pic>
        <p:nvPicPr>
          <p:cNvPr id="9" name="Picture 8" descr="maz_logo_small.png"/>
          <p:cNvPicPr>
            <a:picLocks noChangeAspect="1"/>
          </p:cNvPicPr>
          <p:nvPr/>
        </p:nvPicPr>
        <p:blipFill>
          <a:blip r:embed="rId5"/>
          <a:stretch>
            <a:fillRect/>
          </a:stretch>
        </p:blipFill>
        <p:spPr>
          <a:xfrm>
            <a:off x="566928" y="6291072"/>
            <a:ext cx="384048" cy="37503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 y="475488"/>
            <a:ext cx="8229600" cy="292608"/>
          </a:xfrm>
          <a:prstGeom prst="rect">
            <a:avLst/>
          </a:prstGeom>
          <a:noFill/>
          <a:ln/>
        </p:spPr>
        <p:txBody>
          <a:bodyPr wrap="square" lIns="0" tIns="0" rIns="0" bIns="0" rtlCol="0" anchor="ctr"/>
          <a:lstStyle/>
          <a:p>
            <a:pPr indent="0" marL="0">
              <a:buNone/>
            </a:pPr>
            <a:r>
              <a:rPr lang="en-US" sz="1200" spc="300" kern="0" dirty="0">
                <a:solidFill>
                  <a:srgbClr val="00D4AA"/>
                </a:solidFill>
                <a:latin typeface="Courier New" pitchFamily="34" charset="0"/>
                <a:ea typeface="Courier New" pitchFamily="34" charset="-122"/>
                <a:cs typeface="Courier New" pitchFamily="34" charset="-120"/>
              </a:rPr>
              <a:t>GLOBAL GOALS</a:t>
            </a:r>
            <a:endParaRPr lang="en-US" sz="1200" dirty="0"/>
          </a:p>
        </p:txBody>
      </p:sp>
      <p:sp>
        <p:nvSpPr>
          <p:cNvPr id="3" name="Text 1"/>
          <p:cNvSpPr txBox="1"/>
          <p:nvPr/>
        </p:nvSpPr>
        <p:spPr>
          <a:xfrm>
            <a:off x="566928" y="822960"/>
            <a:ext cx="11057839" cy="868680"/>
          </a:xfrm>
          <a:prstGeom prst="rect">
            <a:avLst/>
          </a:prstGeom>
          <a:noFill/>
          <a:ln/>
        </p:spPr>
        <p:txBody>
          <a:bodyPr wrap="square" lIns="0" tIns="0" rIns="0" bIns="0" rtlCol="0" anchor="ctr"/>
          <a:lstStyle/>
          <a:p>
            <a:pPr indent="0" marL="0">
              <a:buNone/>
            </a:pPr>
            <a:r>
              <a:rPr lang="en-US" sz="3800" b="1" dirty="0">
                <a:solidFill>
                  <a:srgbClr val="E6F6F4"/>
                </a:solidFill>
                <a:latin typeface="Arial" pitchFamily="34" charset="0"/>
                <a:ea typeface="Arial" pitchFamily="34" charset="-122"/>
                <a:cs typeface="Arial" pitchFamily="34" charset="-120"/>
              </a:rPr>
              <a:t>Aligned with the UN SDGs</a:t>
            </a:r>
            <a:endParaRPr lang="en-US" sz="3800" dirty="0"/>
          </a:p>
        </p:txBody>
      </p:sp>
      <p:sp>
        <p:nvSpPr>
          <p:cNvPr id="4" name="Text 2"/>
          <p:cNvSpPr txBox="1"/>
          <p:nvPr/>
        </p:nvSpPr>
        <p:spPr>
          <a:xfrm>
            <a:off x="566928" y="1645920"/>
            <a:ext cx="11057839" cy="457200"/>
          </a:xfrm>
          <a:prstGeom prst="rect">
            <a:avLst/>
          </a:prstGeom>
          <a:noFill/>
          <a:ln/>
        </p:spPr>
        <p:txBody>
          <a:bodyPr wrap="square" lIns="0" tIns="0" rIns="0" bIns="0" rtlCol="0" anchor="t"/>
          <a:lstStyle/>
          <a:p>
            <a:pPr indent="0" marL="0">
              <a:buNone/>
            </a:pPr>
            <a:r>
              <a:rPr lang="en-US" sz="1400" dirty="0">
                <a:solidFill>
                  <a:srgbClr val="8FB4B4"/>
                </a:solidFill>
                <a:latin typeface="Arial" pitchFamily="34" charset="0"/>
                <a:ea typeface="Arial" pitchFamily="34" charset="-122"/>
                <a:cs typeface="Arial" pitchFamily="34" charset="-120"/>
              </a:rPr>
              <a:t>Veda was built with three of the Sustainable Development Goals in mind.</a:t>
            </a:r>
            <a:endParaRPr lang="en-US" sz="1400" dirty="0"/>
          </a:p>
        </p:txBody>
      </p:sp>
      <p:sp>
        <p:nvSpPr>
          <p:cNvPr id="5" name="Shape 3"/>
          <p:cNvSpPr/>
          <p:nvPr/>
        </p:nvSpPr>
        <p:spPr>
          <a:xfrm>
            <a:off x="566928" y="2286000"/>
            <a:ext cx="3466490" cy="3310128"/>
          </a:xfrm>
          <a:prstGeom prst="roundRect">
            <a:avLst>
              <a:gd name="adj" fmla="val 3039"/>
            </a:avLst>
          </a:prstGeom>
          <a:solidFill>
            <a:srgbClr val="0E2A36">
              <a:alpha val="90000"/>
            </a:srgbClr>
          </a:solidFill>
          <a:ln w="12700">
            <a:solidFill>
              <a:srgbClr val="245A63"/>
            </a:solidFill>
            <a:prstDash val="solid"/>
          </a:ln>
        </p:spPr>
      </p:sp>
      <p:pic>
        <p:nvPicPr>
          <p:cNvPr id="6" name="Image 0" descr="/private/tmp/claude-502/-Users-keshavkarthik-Downloads-digital-expo-/4725727b-8639-429e-86c6-a78454e31f2a/scratchpad/deck/assets/sdg4.png">    </p:cNvPr>
          <p:cNvPicPr>
            <a:picLocks noChangeAspect="1"/>
          </p:cNvPicPr>
          <p:nvPr/>
        </p:nvPicPr>
        <p:blipFill>
          <a:blip r:embed="rId2"/>
          <a:stretch>
            <a:fillRect/>
          </a:stretch>
        </p:blipFill>
        <p:spPr>
          <a:xfrm>
            <a:off x="877824" y="2596896"/>
            <a:ext cx="1554480" cy="1554480"/>
          </a:xfrm>
          <a:prstGeom prst="rect">
            <a:avLst/>
          </a:prstGeom>
        </p:spPr>
      </p:pic>
      <p:sp>
        <p:nvSpPr>
          <p:cNvPr id="7" name="Text 4"/>
          <p:cNvSpPr txBox="1"/>
          <p:nvPr/>
        </p:nvSpPr>
        <p:spPr>
          <a:xfrm>
            <a:off x="877824" y="4352544"/>
            <a:ext cx="2844698" cy="978408"/>
          </a:xfrm>
          <a:prstGeom prst="rect">
            <a:avLst/>
          </a:prstGeom>
          <a:noFill/>
          <a:ln/>
        </p:spPr>
        <p:txBody>
          <a:bodyPr wrap="square" lIns="0" tIns="0" rIns="0" bIns="0" rtlCol="0" anchor="t"/>
          <a:lstStyle/>
          <a:p>
            <a:pPr indent="0" marL="0">
              <a:lnSpc>
                <a:spcPts val="1500"/>
              </a:lnSpc>
              <a:buNone/>
            </a:pPr>
            <a:r>
              <a:rPr lang="en-US" sz="1150" dirty="0">
                <a:solidFill>
                  <a:srgbClr val="8FB4B4"/>
                </a:solidFill>
                <a:latin typeface="Arial" pitchFamily="34" charset="0"/>
                <a:ea typeface="Arial" pitchFamily="34" charset="-122"/>
                <a:cs typeface="Arial" pitchFamily="34" charset="-120"/>
              </a:rPr>
              <a:t>Free homework help, revision tools and a past-paper library — no install, works offline — so cost and connectivity aren't barriers to studying well.</a:t>
            </a:r>
            <a:endParaRPr lang="en-US" sz="1150" dirty="0"/>
          </a:p>
        </p:txBody>
      </p:sp>
      <p:sp>
        <p:nvSpPr>
          <p:cNvPr id="8" name="Shape 5"/>
          <p:cNvSpPr/>
          <p:nvPr/>
        </p:nvSpPr>
        <p:spPr>
          <a:xfrm>
            <a:off x="4362602" y="2286000"/>
            <a:ext cx="3466490" cy="3310128"/>
          </a:xfrm>
          <a:prstGeom prst="roundRect">
            <a:avLst>
              <a:gd name="adj" fmla="val 3039"/>
            </a:avLst>
          </a:prstGeom>
          <a:solidFill>
            <a:srgbClr val="0E2A36">
              <a:alpha val="90000"/>
            </a:srgbClr>
          </a:solidFill>
          <a:ln w="12700">
            <a:solidFill>
              <a:srgbClr val="245A63"/>
            </a:solidFill>
            <a:prstDash val="solid"/>
          </a:ln>
        </p:spPr>
      </p:sp>
      <p:pic>
        <p:nvPicPr>
          <p:cNvPr id="9" name="Image 1" descr="/private/tmp/claude-502/-Users-keshavkarthik-Downloads-digital-expo-/4725727b-8639-429e-86c6-a78454e31f2a/scratchpad/deck/assets/sdg3.png">    </p:cNvPr>
          <p:cNvPicPr>
            <a:picLocks noChangeAspect="1"/>
          </p:cNvPicPr>
          <p:nvPr/>
        </p:nvPicPr>
        <p:blipFill>
          <a:blip r:embed="rId3"/>
          <a:stretch>
            <a:fillRect/>
          </a:stretch>
        </p:blipFill>
        <p:spPr>
          <a:xfrm>
            <a:off x="4673498" y="2596896"/>
            <a:ext cx="1554480" cy="1554480"/>
          </a:xfrm>
          <a:prstGeom prst="rect">
            <a:avLst/>
          </a:prstGeom>
        </p:spPr>
      </p:pic>
      <p:sp>
        <p:nvSpPr>
          <p:cNvPr id="10" name="Text 6"/>
          <p:cNvSpPr txBox="1"/>
          <p:nvPr/>
        </p:nvSpPr>
        <p:spPr>
          <a:xfrm>
            <a:off x="4673498" y="4352544"/>
            <a:ext cx="2844698" cy="978408"/>
          </a:xfrm>
          <a:prstGeom prst="rect">
            <a:avLst/>
          </a:prstGeom>
          <a:noFill/>
          <a:ln/>
        </p:spPr>
        <p:txBody>
          <a:bodyPr wrap="square" lIns="0" tIns="0" rIns="0" bIns="0" rtlCol="0" anchor="t"/>
          <a:lstStyle/>
          <a:p>
            <a:pPr indent="0" marL="0">
              <a:lnSpc>
                <a:spcPts val="1500"/>
              </a:lnSpc>
              <a:buNone/>
            </a:pPr>
            <a:r>
              <a:rPr lang="en-US" sz="1150" dirty="0">
                <a:solidFill>
                  <a:srgbClr val="8FB4B4"/>
                </a:solidFill>
                <a:latin typeface="Arial" pitchFamily="34" charset="0"/>
                <a:ea typeface="Arial" pitchFamily="34" charset="-122"/>
                <a:cs typeface="Arial" pitchFamily="34" charset="-120"/>
              </a:rPr>
              <a:t>An AI companion for stress and study life, with a guardian-alert safety net that surfaces real crisis resources when a student is in distress.</a:t>
            </a:r>
            <a:endParaRPr lang="en-US" sz="1150" dirty="0"/>
          </a:p>
        </p:txBody>
      </p:sp>
      <p:sp>
        <p:nvSpPr>
          <p:cNvPr id="11" name="Shape 7"/>
          <p:cNvSpPr/>
          <p:nvPr/>
        </p:nvSpPr>
        <p:spPr>
          <a:xfrm>
            <a:off x="8158277" y="2286000"/>
            <a:ext cx="3466490" cy="3310128"/>
          </a:xfrm>
          <a:prstGeom prst="roundRect">
            <a:avLst>
              <a:gd name="adj" fmla="val 3039"/>
            </a:avLst>
          </a:prstGeom>
          <a:solidFill>
            <a:srgbClr val="0E2A36">
              <a:alpha val="90000"/>
            </a:srgbClr>
          </a:solidFill>
          <a:ln w="12700">
            <a:solidFill>
              <a:srgbClr val="245A63"/>
            </a:solidFill>
            <a:prstDash val="solid"/>
          </a:ln>
        </p:spPr>
      </p:sp>
      <p:pic>
        <p:nvPicPr>
          <p:cNvPr id="12" name="Image 2" descr="/private/tmp/claude-502/-Users-keshavkarthik-Downloads-digital-expo-/4725727b-8639-429e-86c6-a78454e31f2a/scratchpad/deck/assets/sdg10.png">    </p:cNvPr>
          <p:cNvPicPr>
            <a:picLocks noChangeAspect="1"/>
          </p:cNvPicPr>
          <p:nvPr/>
        </p:nvPicPr>
        <p:blipFill>
          <a:blip r:embed="rId4"/>
          <a:stretch>
            <a:fillRect/>
          </a:stretch>
        </p:blipFill>
        <p:spPr>
          <a:xfrm>
            <a:off x="8469173" y="2596896"/>
            <a:ext cx="1554480" cy="1554480"/>
          </a:xfrm>
          <a:prstGeom prst="rect">
            <a:avLst/>
          </a:prstGeom>
        </p:spPr>
      </p:pic>
      <p:sp>
        <p:nvSpPr>
          <p:cNvPr id="13" name="Text 8"/>
          <p:cNvSpPr txBox="1"/>
          <p:nvPr/>
        </p:nvSpPr>
        <p:spPr>
          <a:xfrm>
            <a:off x="8469173" y="4352544"/>
            <a:ext cx="2844698" cy="978408"/>
          </a:xfrm>
          <a:prstGeom prst="rect">
            <a:avLst/>
          </a:prstGeom>
          <a:noFill/>
          <a:ln/>
        </p:spPr>
        <p:txBody>
          <a:bodyPr wrap="square" lIns="0" tIns="0" rIns="0" bIns="0" rtlCol="0" anchor="t"/>
          <a:lstStyle/>
          <a:p>
            <a:pPr indent="0" marL="0">
              <a:lnSpc>
                <a:spcPts val="1500"/>
              </a:lnSpc>
              <a:buNone/>
            </a:pPr>
            <a:r>
              <a:rPr lang="en-US" sz="1150" dirty="0">
                <a:solidFill>
                  <a:srgbClr val="8FB4B4"/>
                </a:solidFill>
                <a:latin typeface="Arial" pitchFamily="34" charset="0"/>
                <a:ea typeface="Arial" pitchFamily="34" charset="-122"/>
                <a:cs typeface="Arial" pitchFamily="34" charset="-120"/>
              </a:rPr>
              <a:t>Bring-your-own-key AI keeps Veda free to run for every student — regardless of school budget or family income.</a:t>
            </a:r>
            <a:endParaRPr lang="en-US" sz="1150" dirty="0"/>
          </a:p>
        </p:txBody>
      </p:sp>
      <p:sp>
        <p:nvSpPr>
          <p:cNvPr id="14" name="Text 9"/>
          <p:cNvSpPr txBox="1"/>
          <p:nvPr/>
        </p:nvSpPr>
        <p:spPr>
          <a:xfrm>
            <a:off x="1080976" y="6400800"/>
            <a:ext cx="914400" cy="274320"/>
          </a:xfrm>
          <a:prstGeom prst="rect">
            <a:avLst/>
          </a:prstGeom>
          <a:noFill/>
          <a:ln/>
        </p:spPr>
        <p:txBody>
          <a:bodyPr wrap="square" lIns="0" tIns="0" rIns="0" bIns="0" rtlCol="0" anchor="ctr"/>
          <a:lstStyle/>
          <a:p>
            <a:pPr indent="0" marL="0">
              <a:buNone/>
            </a:pPr>
            <a:r>
              <a:rPr lang="en-US" sz="1100" dirty="0">
                <a:solidFill>
                  <a:srgbClr val="8FB4B4"/>
                </a:solidFill>
                <a:latin typeface="Courier New" pitchFamily="34" charset="0"/>
                <a:ea typeface="Courier New" pitchFamily="34" charset="-122"/>
                <a:cs typeface="Courier New" pitchFamily="34" charset="-120"/>
              </a:rPr>
              <a:t>06</a:t>
            </a:r>
            <a:endParaRPr lang="en-US" sz="1100" dirty="0"/>
          </a:p>
        </p:txBody>
      </p:sp>
      <p:pic>
        <p:nvPicPr>
          <p:cNvPr id="15" name="Image 3" descr="/private/tmp/claude-502/-Users-keshavkarthik-Downloads-digital-expo-/4725727b-8639-429e-86c6-a78454e31f2a/scratchpad/deck/assets/logo.png">    </p:cNvPr>
          <p:cNvPicPr>
            <a:picLocks noChangeAspect="1"/>
          </p:cNvPicPr>
          <p:nvPr/>
        </p:nvPicPr>
        <p:blipFill>
          <a:blip r:embed="rId5">
            <a:alphaModFix amt="85000"/>
          </a:blip>
          <a:stretch>
            <a:fillRect/>
          </a:stretch>
        </p:blipFill>
        <p:spPr>
          <a:xfrm>
            <a:off x="11240719" y="6291072"/>
            <a:ext cx="384048" cy="384048"/>
          </a:xfrm>
          <a:prstGeom prst="rect">
            <a:avLst/>
          </a:prstGeom>
        </p:spPr>
      </p:pic>
      <p:pic>
        <p:nvPicPr>
          <p:cNvPr id="16" name="Picture 15" descr="maz_logo_small.png"/>
          <p:cNvPicPr>
            <a:picLocks noChangeAspect="1"/>
          </p:cNvPicPr>
          <p:nvPr/>
        </p:nvPicPr>
        <p:blipFill>
          <a:blip r:embed="rId8"/>
          <a:stretch>
            <a:fillRect/>
          </a:stretch>
        </p:blipFill>
        <p:spPr>
          <a:xfrm>
            <a:off x="566928" y="6291072"/>
            <a:ext cx="384048" cy="37503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66928" y="475488"/>
            <a:ext cx="8229600" cy="292608"/>
          </a:xfrm>
          <a:prstGeom prst="rect">
            <a:avLst/>
          </a:prstGeom>
          <a:noFill/>
          <a:ln/>
        </p:spPr>
        <p:txBody>
          <a:bodyPr wrap="square" lIns="0" tIns="0" rIns="0" bIns="0" rtlCol="0" anchor="ctr"/>
          <a:lstStyle/>
          <a:p>
            <a:pPr indent="0" marL="0">
              <a:buNone/>
            </a:pPr>
            <a:r>
              <a:rPr lang="en-US" sz="1200" spc="300" kern="0" dirty="0">
                <a:solidFill>
                  <a:srgbClr val="00D4AA"/>
                </a:solidFill>
                <a:latin typeface="Courier New" pitchFamily="34" charset="0"/>
                <a:ea typeface="Courier New" pitchFamily="34" charset="-122"/>
                <a:cs typeface="Courier New" pitchFamily="34" charset="-120"/>
              </a:rPr>
              <a:t>UNDER THE HOOD</a:t>
            </a:r>
            <a:endParaRPr lang="en-US" sz="1200" dirty="0"/>
          </a:p>
        </p:txBody>
      </p:sp>
      <p:sp>
        <p:nvSpPr>
          <p:cNvPr id="3" name="Text 1"/>
          <p:cNvSpPr txBox="1"/>
          <p:nvPr/>
        </p:nvSpPr>
        <p:spPr>
          <a:xfrm>
            <a:off x="566928" y="822960"/>
            <a:ext cx="11057839" cy="868680"/>
          </a:xfrm>
          <a:prstGeom prst="rect">
            <a:avLst/>
          </a:prstGeom>
          <a:noFill/>
          <a:ln/>
        </p:spPr>
        <p:txBody>
          <a:bodyPr wrap="square" lIns="0" tIns="0" rIns="0" bIns="0" rtlCol="0" anchor="ctr"/>
          <a:lstStyle/>
          <a:p>
            <a:pPr indent="0" marL="0">
              <a:buNone/>
            </a:pPr>
            <a:r>
              <a:rPr lang="en-US" sz="3800" b="1" dirty="0">
                <a:solidFill>
                  <a:srgbClr val="E6F6F4"/>
                </a:solidFill>
                <a:latin typeface="Arial" pitchFamily="34" charset="0"/>
                <a:ea typeface="Arial" pitchFamily="34" charset="-122"/>
                <a:cs typeface="Arial" pitchFamily="34" charset="-120"/>
              </a:rPr>
              <a:t>How It's Built</a:t>
            </a:r>
            <a:endParaRPr lang="en-US" sz="3800" dirty="0"/>
          </a:p>
        </p:txBody>
      </p:sp>
      <p:sp>
        <p:nvSpPr>
          <p:cNvPr id="4" name="Shape 2"/>
          <p:cNvSpPr/>
          <p:nvPr/>
        </p:nvSpPr>
        <p:spPr>
          <a:xfrm>
            <a:off x="566928" y="2011680"/>
            <a:ext cx="6858000" cy="1097280"/>
          </a:xfrm>
          <a:prstGeom prst="roundRect">
            <a:avLst>
              <a:gd name="adj" fmla="val 9167"/>
            </a:avLst>
          </a:prstGeom>
          <a:solidFill>
            <a:srgbClr val="0E2A36">
              <a:alpha val="90000"/>
            </a:srgbClr>
          </a:solidFill>
          <a:ln w="12700">
            <a:solidFill>
              <a:srgbClr val="245A63"/>
            </a:solidFill>
            <a:prstDash val="solid"/>
          </a:ln>
        </p:spPr>
      </p:sp>
      <p:pic>
        <p:nvPicPr>
          <p:cNvPr id="5" name="Image 0" descr="/private/tmp/claude-502/-Users-keshavkarthik-Downloads-digital-expo-/4725727b-8639-429e-86c6-a78454e31f2a/scratchpad/deck/assets/ic-cloud.png">    </p:cNvPr>
          <p:cNvPicPr>
            <a:picLocks noChangeAspect="1"/>
          </p:cNvPicPr>
          <p:nvPr/>
        </p:nvPicPr>
        <p:blipFill>
          <a:blip r:embed="rId2"/>
          <a:stretch>
            <a:fillRect/>
          </a:stretch>
        </p:blipFill>
        <p:spPr>
          <a:xfrm>
            <a:off x="841248" y="2340864"/>
            <a:ext cx="420624" cy="420624"/>
          </a:xfrm>
          <a:prstGeom prst="rect">
            <a:avLst/>
          </a:prstGeom>
        </p:spPr>
      </p:pic>
      <p:sp>
        <p:nvSpPr>
          <p:cNvPr id="6" name="Text 3"/>
          <p:cNvSpPr txBox="1"/>
          <p:nvPr/>
        </p:nvSpPr>
        <p:spPr>
          <a:xfrm>
            <a:off x="1481328" y="2176272"/>
            <a:ext cx="5669280" cy="365760"/>
          </a:xfrm>
          <a:prstGeom prst="rect">
            <a:avLst/>
          </a:prstGeom>
          <a:noFill/>
          <a:ln/>
        </p:spPr>
        <p:txBody>
          <a:bodyPr wrap="square" lIns="0" tIns="0" rIns="0" bIns="0" rtlCol="0" anchor="ctr"/>
          <a:lstStyle/>
          <a:p>
            <a:pPr indent="0" marL="0">
              <a:buNone/>
            </a:pPr>
            <a:r>
              <a:rPr lang="en-US" sz="1500" b="1" dirty="0">
                <a:solidFill>
                  <a:srgbClr val="E6F6F4"/>
                </a:solidFill>
                <a:latin typeface="Arial" pitchFamily="34" charset="0"/>
                <a:ea typeface="Arial" pitchFamily="34" charset="-122"/>
                <a:cs typeface="Arial" pitchFamily="34" charset="-120"/>
              </a:rPr>
              <a:t>Static &amp; hosted free</a:t>
            </a:r>
            <a:endParaRPr lang="en-US" sz="1500" dirty="0"/>
          </a:p>
        </p:txBody>
      </p:sp>
      <p:sp>
        <p:nvSpPr>
          <p:cNvPr id="7" name="Text 4"/>
          <p:cNvSpPr txBox="1"/>
          <p:nvPr/>
        </p:nvSpPr>
        <p:spPr>
          <a:xfrm>
            <a:off x="1481328" y="2523744"/>
            <a:ext cx="5669280" cy="502920"/>
          </a:xfrm>
          <a:prstGeom prst="rect">
            <a:avLst/>
          </a:prstGeom>
          <a:noFill/>
          <a:ln/>
        </p:spPr>
        <p:txBody>
          <a:bodyPr wrap="square" lIns="0" tIns="0" rIns="0" bIns="0" rtlCol="0" anchor="t"/>
          <a:lstStyle/>
          <a:p>
            <a:pPr indent="0" marL="0">
              <a:lnSpc>
                <a:spcPts val="1300"/>
              </a:lnSpc>
              <a:buNone/>
            </a:pPr>
            <a:r>
              <a:rPr lang="en-US" sz="1100" dirty="0">
                <a:solidFill>
                  <a:srgbClr val="8FB4B4"/>
                </a:solidFill>
                <a:latin typeface="Arial" pitchFamily="34" charset="0"/>
                <a:ea typeface="Arial" pitchFamily="34" charset="-122"/>
                <a:cs typeface="Arial" pitchFamily="34" charset="-120"/>
              </a:rPr>
              <a:t>A single-page app on GitHub Pages, live at veda-net.com.</a:t>
            </a:r>
            <a:endParaRPr lang="en-US" sz="1100" dirty="0"/>
          </a:p>
        </p:txBody>
      </p:sp>
      <p:sp>
        <p:nvSpPr>
          <p:cNvPr id="8" name="Shape 5"/>
          <p:cNvSpPr/>
          <p:nvPr/>
        </p:nvSpPr>
        <p:spPr>
          <a:xfrm>
            <a:off x="566928" y="3364992"/>
            <a:ext cx="6858000" cy="1097280"/>
          </a:xfrm>
          <a:prstGeom prst="roundRect">
            <a:avLst>
              <a:gd name="adj" fmla="val 9167"/>
            </a:avLst>
          </a:prstGeom>
          <a:solidFill>
            <a:srgbClr val="0E2A36">
              <a:alpha val="90000"/>
            </a:srgbClr>
          </a:solidFill>
          <a:ln w="12700">
            <a:solidFill>
              <a:srgbClr val="245A63"/>
            </a:solidFill>
            <a:prstDash val="solid"/>
          </a:ln>
        </p:spPr>
      </p:sp>
      <p:pic>
        <p:nvPicPr>
          <p:cNvPr id="9" name="Image 1" descr="/private/tmp/claude-502/-Users-keshavkarthik-Downloads-digital-expo-/4725727b-8639-429e-86c6-a78454e31f2a/scratchpad/deck/assets/ic-code.png">    </p:cNvPr>
          <p:cNvPicPr>
            <a:picLocks noChangeAspect="1"/>
          </p:cNvPicPr>
          <p:nvPr/>
        </p:nvPicPr>
        <p:blipFill>
          <a:blip r:embed="rId3"/>
          <a:stretch>
            <a:fillRect/>
          </a:stretch>
        </p:blipFill>
        <p:spPr>
          <a:xfrm>
            <a:off x="841248" y="3694176"/>
            <a:ext cx="420624" cy="420624"/>
          </a:xfrm>
          <a:prstGeom prst="rect">
            <a:avLst/>
          </a:prstGeom>
        </p:spPr>
      </p:pic>
      <p:sp>
        <p:nvSpPr>
          <p:cNvPr id="10" name="Text 6"/>
          <p:cNvSpPr txBox="1"/>
          <p:nvPr/>
        </p:nvSpPr>
        <p:spPr>
          <a:xfrm>
            <a:off x="1481328" y="3529584"/>
            <a:ext cx="5669280" cy="365760"/>
          </a:xfrm>
          <a:prstGeom prst="rect">
            <a:avLst/>
          </a:prstGeom>
          <a:noFill/>
          <a:ln/>
        </p:spPr>
        <p:txBody>
          <a:bodyPr wrap="square" lIns="0" tIns="0" rIns="0" bIns="0" rtlCol="0" anchor="ctr"/>
          <a:lstStyle/>
          <a:p>
            <a:pPr indent="0" marL="0">
              <a:buNone/>
            </a:pPr>
            <a:r>
              <a:rPr lang="en-US" sz="1500" b="1" dirty="0">
                <a:solidFill>
                  <a:srgbClr val="E6F6F4"/>
                </a:solidFill>
                <a:latin typeface="Arial" pitchFamily="34" charset="0"/>
                <a:ea typeface="Arial" pitchFamily="34" charset="-122"/>
                <a:cs typeface="Arial" pitchFamily="34" charset="-120"/>
              </a:rPr>
              <a:t>Firebase backend</a:t>
            </a:r>
            <a:endParaRPr lang="en-US" sz="1500" dirty="0"/>
          </a:p>
        </p:txBody>
      </p:sp>
      <p:sp>
        <p:nvSpPr>
          <p:cNvPr id="11" name="Text 7"/>
          <p:cNvSpPr txBox="1"/>
          <p:nvPr/>
        </p:nvSpPr>
        <p:spPr>
          <a:xfrm>
            <a:off x="1481328" y="3877056"/>
            <a:ext cx="5669280" cy="502920"/>
          </a:xfrm>
          <a:prstGeom prst="rect">
            <a:avLst/>
          </a:prstGeom>
          <a:noFill/>
          <a:ln/>
        </p:spPr>
        <p:txBody>
          <a:bodyPr wrap="square" lIns="0" tIns="0" rIns="0" bIns="0" rtlCol="0" anchor="t"/>
          <a:lstStyle/>
          <a:p>
            <a:pPr indent="0" marL="0">
              <a:lnSpc>
                <a:spcPts val="1300"/>
              </a:lnSpc>
              <a:buNone/>
            </a:pPr>
            <a:r>
              <a:rPr lang="en-US" sz="1100" dirty="0">
                <a:solidFill>
                  <a:srgbClr val="8FB4B4"/>
                </a:solidFill>
                <a:latin typeface="Arial" pitchFamily="34" charset="0"/>
                <a:ea typeface="Arial" pitchFamily="34" charset="-122"/>
                <a:cs typeface="Arial" pitchFamily="34" charset="-120"/>
              </a:rPr>
              <a:t>Firestore powers the Forum and student data; one Cloud Function sends guardian-alert emails.</a:t>
            </a:r>
            <a:endParaRPr lang="en-US" sz="1100" dirty="0"/>
          </a:p>
        </p:txBody>
      </p:sp>
      <p:sp>
        <p:nvSpPr>
          <p:cNvPr id="12" name="Shape 8"/>
          <p:cNvSpPr/>
          <p:nvPr/>
        </p:nvSpPr>
        <p:spPr>
          <a:xfrm>
            <a:off x="566928" y="4718304"/>
            <a:ext cx="6858000" cy="1097280"/>
          </a:xfrm>
          <a:prstGeom prst="roundRect">
            <a:avLst>
              <a:gd name="adj" fmla="val 9167"/>
            </a:avLst>
          </a:prstGeom>
          <a:solidFill>
            <a:srgbClr val="0E2A36">
              <a:alpha val="90000"/>
            </a:srgbClr>
          </a:solidFill>
          <a:ln w="12700">
            <a:solidFill>
              <a:srgbClr val="245A63"/>
            </a:solidFill>
            <a:prstDash val="solid"/>
          </a:ln>
        </p:spPr>
      </p:sp>
      <p:pic>
        <p:nvPicPr>
          <p:cNvPr id="13" name="Image 2" descr="/private/tmp/claude-502/-Users-keshavkarthik-Downloads-digital-expo-/4725727b-8639-429e-86c6-a78454e31f2a/scratchpad/deck/assets/ic-key.png">    </p:cNvPr>
          <p:cNvPicPr>
            <a:picLocks noChangeAspect="1"/>
          </p:cNvPicPr>
          <p:nvPr/>
        </p:nvPicPr>
        <p:blipFill>
          <a:blip r:embed="rId4"/>
          <a:stretch>
            <a:fillRect/>
          </a:stretch>
        </p:blipFill>
        <p:spPr>
          <a:xfrm>
            <a:off x="841248" y="5047488"/>
            <a:ext cx="420624" cy="420624"/>
          </a:xfrm>
          <a:prstGeom prst="rect">
            <a:avLst/>
          </a:prstGeom>
        </p:spPr>
      </p:pic>
      <p:sp>
        <p:nvSpPr>
          <p:cNvPr id="14" name="Text 9"/>
          <p:cNvSpPr txBox="1"/>
          <p:nvPr/>
        </p:nvSpPr>
        <p:spPr>
          <a:xfrm>
            <a:off x="1481328" y="4882896"/>
            <a:ext cx="5669280" cy="365760"/>
          </a:xfrm>
          <a:prstGeom prst="rect">
            <a:avLst/>
          </a:prstGeom>
          <a:noFill/>
          <a:ln/>
        </p:spPr>
        <p:txBody>
          <a:bodyPr wrap="square" lIns="0" tIns="0" rIns="0" bIns="0" rtlCol="0" anchor="ctr"/>
          <a:lstStyle/>
          <a:p>
            <a:pPr indent="0" marL="0">
              <a:buNone/>
            </a:pPr>
            <a:r>
              <a:rPr lang="en-US" sz="1500" b="1" dirty="0">
                <a:solidFill>
                  <a:srgbClr val="E6F6F4"/>
                </a:solidFill>
                <a:latin typeface="Arial" pitchFamily="34" charset="0"/>
                <a:ea typeface="Arial" pitchFamily="34" charset="-122"/>
                <a:cs typeface="Arial" pitchFamily="34" charset="-120"/>
              </a:rPr>
              <a:t>Bring-your-own-key AI</a:t>
            </a:r>
            <a:endParaRPr lang="en-US" sz="1500" dirty="0"/>
          </a:p>
        </p:txBody>
      </p:sp>
      <p:sp>
        <p:nvSpPr>
          <p:cNvPr id="15" name="Text 10"/>
          <p:cNvSpPr txBox="1"/>
          <p:nvPr/>
        </p:nvSpPr>
        <p:spPr>
          <a:xfrm>
            <a:off x="1481328" y="5230368"/>
            <a:ext cx="5669280" cy="502920"/>
          </a:xfrm>
          <a:prstGeom prst="rect">
            <a:avLst/>
          </a:prstGeom>
          <a:noFill/>
          <a:ln/>
        </p:spPr>
        <p:txBody>
          <a:bodyPr wrap="square" lIns="0" tIns="0" rIns="0" bIns="0" rtlCol="0" anchor="t"/>
          <a:lstStyle/>
          <a:p>
            <a:pPr indent="0" marL="0">
              <a:lnSpc>
                <a:spcPts val="1300"/>
              </a:lnSpc>
              <a:buNone/>
            </a:pPr>
            <a:r>
              <a:rPr lang="en-US" sz="1100" dirty="0">
                <a:solidFill>
                  <a:srgbClr val="8FB4B4"/>
                </a:solidFill>
                <a:latin typeface="Arial" pitchFamily="34" charset="0"/>
                <a:ea typeface="Arial" pitchFamily="34" charset="-122"/>
                <a:cs typeface="Arial" pitchFamily="34" charset="-120"/>
              </a:rPr>
              <a:t>Students use their own free Gemini API key, stored locally — no shared cost, no abuse.</a:t>
            </a:r>
            <a:endParaRPr lang="en-US" sz="1100" dirty="0"/>
          </a:p>
        </p:txBody>
      </p:sp>
      <p:sp>
        <p:nvSpPr>
          <p:cNvPr id="16" name="Shape 11"/>
          <p:cNvSpPr/>
          <p:nvPr/>
        </p:nvSpPr>
        <p:spPr>
          <a:xfrm>
            <a:off x="7680960" y="1874520"/>
            <a:ext cx="3943807" cy="4160520"/>
          </a:xfrm>
          <a:prstGeom prst="roundRect">
            <a:avLst>
              <a:gd name="adj" fmla="val 2550"/>
            </a:avLst>
          </a:prstGeom>
          <a:solidFill>
            <a:srgbClr val="0E2A36">
              <a:alpha val="90000"/>
            </a:srgbClr>
          </a:solidFill>
          <a:ln w="19050">
            <a:solidFill>
              <a:srgbClr val="38BDF8"/>
            </a:solidFill>
            <a:prstDash val="solid"/>
          </a:ln>
        </p:spPr>
      </p:sp>
      <p:pic>
        <p:nvPicPr>
          <p:cNvPr id="17" name="Image 3" descr="/private/tmp/claude-502/-Users-keshavkarthik-Downloads-digital-expo-/4725727b-8639-429e-86c6-a78454e31f2a/scratchpad/deck/assets/qr.png">    </p:cNvPr>
          <p:cNvPicPr>
            <a:picLocks noChangeAspect="1"/>
          </p:cNvPicPr>
          <p:nvPr/>
        </p:nvPicPr>
        <p:blipFill>
          <a:blip r:embed="rId5"/>
          <a:stretch>
            <a:fillRect/>
          </a:stretch>
        </p:blipFill>
        <p:spPr>
          <a:xfrm>
            <a:off x="8509864" y="2286000"/>
            <a:ext cx="2286000" cy="2286000"/>
          </a:xfrm>
          <a:prstGeom prst="rect">
            <a:avLst/>
          </a:prstGeom>
        </p:spPr>
      </p:pic>
      <p:sp>
        <p:nvSpPr>
          <p:cNvPr id="18" name="Text 12"/>
          <p:cNvSpPr txBox="1"/>
          <p:nvPr/>
        </p:nvSpPr>
        <p:spPr>
          <a:xfrm>
            <a:off x="7973568" y="4846320"/>
            <a:ext cx="3429000" cy="502920"/>
          </a:xfrm>
          <a:prstGeom prst="rect">
            <a:avLst/>
          </a:prstGeom>
          <a:noFill/>
          <a:ln/>
        </p:spPr>
        <p:txBody>
          <a:bodyPr wrap="square" lIns="0" tIns="0" rIns="0" bIns="0" rtlCol="0" anchor="t"/>
          <a:lstStyle/>
          <a:p>
            <a:pPr algn="ctr" indent="0" marL="0">
              <a:lnSpc>
                <a:spcPts val="1700"/>
              </a:lnSpc>
              <a:buNone/>
            </a:pPr>
            <a:r>
              <a:rPr lang="en-US" sz="1250" dirty="0">
                <a:solidFill>
                  <a:srgbClr val="E6F6F4"/>
                </a:solidFill>
                <a:latin typeface="Arial" pitchFamily="34" charset="0"/>
                <a:ea typeface="Arial" pitchFamily="34" charset="-122"/>
                <a:cs typeface="Arial" pitchFamily="34" charset="-120"/>
              </a:rPr>
              <a:t>Scan to try Veda live at the booth</a:t>
            </a:r>
            <a:endParaRPr lang="en-US" sz="1250" dirty="0"/>
          </a:p>
        </p:txBody>
      </p:sp>
      <p:sp>
        <p:nvSpPr>
          <p:cNvPr id="19" name="Text 13"/>
          <p:cNvSpPr txBox="1"/>
          <p:nvPr/>
        </p:nvSpPr>
        <p:spPr>
          <a:xfrm>
            <a:off x="7973568" y="5486400"/>
            <a:ext cx="3429000" cy="365760"/>
          </a:xfrm>
          <a:prstGeom prst="rect">
            <a:avLst/>
          </a:prstGeom>
          <a:noFill/>
          <a:ln/>
        </p:spPr>
        <p:txBody>
          <a:bodyPr wrap="square" lIns="0" tIns="0" rIns="0" bIns="0" rtlCol="0" anchor="ctr"/>
          <a:lstStyle/>
          <a:p>
            <a:pPr algn="ctr" indent="0" marL="0">
              <a:buNone/>
            </a:pPr>
            <a:r>
              <a:rPr lang="en-US" sz="1600" b="1" dirty="0">
                <a:solidFill>
                  <a:srgbClr val="00D4AA"/>
                </a:solidFill>
                <a:latin typeface="Arial" pitchFamily="34" charset="0"/>
                <a:ea typeface="Arial" pitchFamily="34" charset="-122"/>
                <a:cs typeface="Arial" pitchFamily="34" charset="-120"/>
              </a:rPr>
              <a:t>veda-net.com</a:t>
            </a:r>
            <a:endParaRPr lang="en-US" sz="1600" dirty="0"/>
          </a:p>
        </p:txBody>
      </p:sp>
      <p:sp>
        <p:nvSpPr>
          <p:cNvPr id="20" name="Text 14"/>
          <p:cNvSpPr txBox="1"/>
          <p:nvPr/>
        </p:nvSpPr>
        <p:spPr>
          <a:xfrm>
            <a:off x="1080976" y="6400800"/>
            <a:ext cx="914400" cy="274320"/>
          </a:xfrm>
          <a:prstGeom prst="rect">
            <a:avLst/>
          </a:prstGeom>
          <a:noFill/>
          <a:ln/>
        </p:spPr>
        <p:txBody>
          <a:bodyPr wrap="square" lIns="0" tIns="0" rIns="0" bIns="0" rtlCol="0" anchor="ctr"/>
          <a:lstStyle/>
          <a:p>
            <a:pPr indent="0" marL="0">
              <a:buNone/>
            </a:pPr>
            <a:r>
              <a:rPr lang="en-US" sz="1100" dirty="0">
                <a:solidFill>
                  <a:srgbClr val="8FB4B4"/>
                </a:solidFill>
                <a:latin typeface="Courier New" pitchFamily="34" charset="0"/>
                <a:ea typeface="Courier New" pitchFamily="34" charset="-122"/>
                <a:cs typeface="Courier New" pitchFamily="34" charset="-120"/>
              </a:rPr>
              <a:t>07</a:t>
            </a:r>
            <a:endParaRPr lang="en-US" sz="1100" dirty="0"/>
          </a:p>
        </p:txBody>
      </p:sp>
      <p:pic>
        <p:nvPicPr>
          <p:cNvPr id="21" name="Image 4" descr="/private/tmp/claude-502/-Users-keshavkarthik-Downloads-digital-expo-/4725727b-8639-429e-86c6-a78454e31f2a/scratchpad/deck/assets/logo.png">    </p:cNvPr>
          <p:cNvPicPr>
            <a:picLocks noChangeAspect="1"/>
          </p:cNvPicPr>
          <p:nvPr/>
        </p:nvPicPr>
        <p:blipFill>
          <a:blip r:embed="rId6">
            <a:alphaModFix amt="85000"/>
          </a:blip>
          <a:stretch>
            <a:fillRect/>
          </a:stretch>
        </p:blipFill>
        <p:spPr>
          <a:xfrm>
            <a:off x="11240719" y="6291072"/>
            <a:ext cx="384048" cy="384048"/>
          </a:xfrm>
          <a:prstGeom prst="rect">
            <a:avLst/>
          </a:prstGeom>
        </p:spPr>
      </p:pic>
      <p:pic>
        <p:nvPicPr>
          <p:cNvPr id="22" name="Picture 21" descr="maz_logo_small.png"/>
          <p:cNvPicPr>
            <a:picLocks noChangeAspect="1"/>
          </p:cNvPicPr>
          <p:nvPr/>
        </p:nvPicPr>
        <p:blipFill>
          <a:blip r:embed="rId9"/>
          <a:stretch>
            <a:fillRect/>
          </a:stretch>
        </p:blipFill>
        <p:spPr>
          <a:xfrm>
            <a:off x="566928" y="6291072"/>
            <a:ext cx="384048" cy="37503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Veda — Digital Expo</dc:title>
  <dc:subject>PptxGenJS Presentation</dc:subject>
  <dc:creator>Veda</dc:creator>
  <cp:lastModifiedBy>Veda</cp:lastModifiedBy>
  <cp:revision>1</cp:revision>
  <dcterms:created xsi:type="dcterms:W3CDTF">2026-09-10T13:38:25Z</dcterms:created>
  <dcterms:modified xsi:type="dcterms:W3CDTF">2026-09-10T13:38:25Z</dcterms:modified>
</cp:coreProperties>
</file>